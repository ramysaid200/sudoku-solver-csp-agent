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73987" y="2605840"/>
            <a:ext cx="6244024" cy="71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003366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003366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2513707"/>
            <a:ext cx="5286374" cy="255448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34125" y="2513707"/>
            <a:ext cx="5286374" cy="25544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003366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003366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540511"/>
            <a:ext cx="621410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003366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3400" y="2286037"/>
            <a:ext cx="11125200" cy="3449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1400" y="4401294"/>
            <a:ext cx="1285874" cy="6476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3025" y="4401294"/>
            <a:ext cx="1457324" cy="6476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6100" y="4401294"/>
            <a:ext cx="1714499" cy="6476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24418" y="1789024"/>
            <a:ext cx="27438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55">
                <a:solidFill>
                  <a:srgbClr val="D4AE37"/>
                </a:solidFill>
                <a:latin typeface="Arial Black"/>
                <a:cs typeface="Arial Black"/>
              </a:rPr>
              <a:t>FINAL</a:t>
            </a:r>
            <a:r>
              <a:rPr dirty="0" sz="1400" spc="-125">
                <a:solidFill>
                  <a:srgbClr val="D4AE37"/>
                </a:solidFill>
                <a:latin typeface="Arial Black"/>
                <a:cs typeface="Arial Black"/>
              </a:rPr>
              <a:t> </a:t>
            </a:r>
            <a:r>
              <a:rPr dirty="0" sz="1400" spc="-145">
                <a:solidFill>
                  <a:srgbClr val="D4AE37"/>
                </a:solidFill>
                <a:latin typeface="Arial Black"/>
                <a:cs typeface="Arial Black"/>
              </a:rPr>
              <a:t>PROJECT</a:t>
            </a:r>
            <a:r>
              <a:rPr dirty="0" sz="1400" spc="-125">
                <a:solidFill>
                  <a:srgbClr val="D4AE37"/>
                </a:solidFill>
                <a:latin typeface="Arial Black"/>
                <a:cs typeface="Arial Black"/>
              </a:rPr>
              <a:t> </a:t>
            </a:r>
            <a:r>
              <a:rPr dirty="0" sz="1400" spc="-150">
                <a:solidFill>
                  <a:srgbClr val="D4AE37"/>
                </a:solidFill>
                <a:latin typeface="Arial Black"/>
                <a:cs typeface="Arial Black"/>
              </a:rPr>
              <a:t>PRESENTATION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 descr="$PPTXTitle"/>
          <p:cNvSpPr txBox="1"/>
          <p:nvPr/>
        </p:nvSpPr>
        <p:spPr>
          <a:xfrm>
            <a:off x="2268428" y="1974846"/>
            <a:ext cx="7655559" cy="163512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dirty="0" sz="4800" spc="-135">
                <a:solidFill>
                  <a:srgbClr val="003366"/>
                </a:solidFill>
                <a:latin typeface="Arial Black"/>
                <a:cs typeface="Arial Black"/>
              </a:rPr>
              <a:t>Sudoku</a:t>
            </a:r>
            <a:r>
              <a:rPr dirty="0" sz="4800" spc="-55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4800" spc="-200">
                <a:solidFill>
                  <a:srgbClr val="003366"/>
                </a:solidFill>
                <a:latin typeface="Arial Black"/>
                <a:cs typeface="Arial Black"/>
              </a:rPr>
              <a:t>Solver</a:t>
            </a:r>
            <a:r>
              <a:rPr dirty="0" sz="4800" spc="-55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4800" spc="-10">
                <a:solidFill>
                  <a:srgbClr val="003366"/>
                </a:solidFill>
                <a:latin typeface="Arial Black"/>
                <a:cs typeface="Arial Black"/>
              </a:rPr>
              <a:t>Agent</a:t>
            </a:r>
            <a:endParaRPr sz="4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dirty="0" sz="4800">
                <a:solidFill>
                  <a:srgbClr val="003366"/>
                </a:solidFill>
                <a:latin typeface="Lucida Sans Unicode"/>
                <a:cs typeface="Lucida Sans Unicode"/>
              </a:rPr>
              <a:t>using</a:t>
            </a:r>
            <a:r>
              <a:rPr dirty="0" sz="4800" spc="-204">
                <a:solidFill>
                  <a:srgbClr val="003366"/>
                </a:solidFill>
                <a:latin typeface="Lucida Sans Unicode"/>
                <a:cs typeface="Lucida Sans Unicode"/>
              </a:rPr>
              <a:t> </a:t>
            </a:r>
            <a:r>
              <a:rPr dirty="0" sz="4800" spc="170">
                <a:solidFill>
                  <a:srgbClr val="003366"/>
                </a:solidFill>
                <a:latin typeface="Lucida Sans Unicode"/>
                <a:cs typeface="Lucida Sans Unicode"/>
              </a:rPr>
              <a:t>CSP</a:t>
            </a:r>
            <a:r>
              <a:rPr dirty="0" sz="4800" spc="-204">
                <a:solidFill>
                  <a:srgbClr val="003366"/>
                </a:solidFill>
                <a:latin typeface="Lucida Sans Unicode"/>
                <a:cs typeface="Lucida Sans Unicode"/>
              </a:rPr>
              <a:t> </a:t>
            </a:r>
            <a:r>
              <a:rPr dirty="0" sz="4800" spc="100">
                <a:solidFill>
                  <a:srgbClr val="003366"/>
                </a:solidFill>
                <a:latin typeface="Lucida Sans Unicode"/>
                <a:cs typeface="Lucida Sans Unicode"/>
              </a:rPr>
              <a:t>&amp;</a:t>
            </a:r>
            <a:r>
              <a:rPr dirty="0" sz="4800" spc="-204">
                <a:solidFill>
                  <a:srgbClr val="003366"/>
                </a:solidFill>
                <a:latin typeface="Lucida Sans Unicode"/>
                <a:cs typeface="Lucida Sans Unicode"/>
              </a:rPr>
              <a:t> </a:t>
            </a:r>
            <a:r>
              <a:rPr dirty="0" sz="4800" spc="60">
                <a:solidFill>
                  <a:srgbClr val="003366"/>
                </a:solidFill>
                <a:latin typeface="Lucida Sans Unicode"/>
                <a:cs typeface="Lucida Sans Unicode"/>
              </a:rPr>
              <a:t>Backtracking</a:t>
            </a:r>
            <a:endParaRPr sz="4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57831" y="3632779"/>
            <a:ext cx="407542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64738B"/>
                </a:solidFill>
                <a:latin typeface="Tahoma"/>
                <a:cs typeface="Tahoma"/>
              </a:rPr>
              <a:t>Artificial</a:t>
            </a:r>
            <a:r>
              <a:rPr dirty="0" sz="1800" spc="-16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64738B"/>
                </a:solidFill>
                <a:latin typeface="Tahoma"/>
                <a:cs typeface="Tahoma"/>
              </a:rPr>
              <a:t>Intelligence</a:t>
            </a:r>
            <a:r>
              <a:rPr dirty="0" sz="1800" spc="-16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800" spc="90">
                <a:solidFill>
                  <a:srgbClr val="64738B"/>
                </a:solidFill>
                <a:latin typeface="Tahoma"/>
                <a:cs typeface="Tahoma"/>
              </a:rPr>
              <a:t>CCE414</a:t>
            </a:r>
            <a:r>
              <a:rPr dirty="0" sz="1800" spc="-160">
                <a:solidFill>
                  <a:srgbClr val="64738B"/>
                </a:solidFill>
                <a:latin typeface="Tahoma"/>
                <a:cs typeface="Tahoma"/>
              </a:rPr>
              <a:t> | </a:t>
            </a:r>
            <a:r>
              <a:rPr dirty="0" sz="1800">
                <a:solidFill>
                  <a:srgbClr val="64738B"/>
                </a:solidFill>
                <a:latin typeface="Tahoma"/>
                <a:cs typeface="Tahoma"/>
              </a:rPr>
              <a:t>May</a:t>
            </a:r>
            <a:r>
              <a:rPr dirty="0" sz="1800" spc="-16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64738B"/>
                </a:solidFill>
                <a:latin typeface="Tahoma"/>
                <a:cs typeface="Tahoma"/>
              </a:rPr>
              <a:t>2026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5000" y="2308025"/>
            <a:ext cx="762000" cy="47625"/>
          </a:xfrm>
          <a:custGeom>
            <a:avLst/>
            <a:gdLst/>
            <a:ahLst/>
            <a:cxnLst/>
            <a:rect l="l" t="t" r="r" b="b"/>
            <a:pathLst>
              <a:path w="762000" h="47625">
                <a:moveTo>
                  <a:pt x="761999" y="47624"/>
                </a:moveTo>
                <a:lnTo>
                  <a:pt x="0" y="47624"/>
                </a:lnTo>
                <a:lnTo>
                  <a:pt x="0" y="0"/>
                </a:lnTo>
                <a:lnTo>
                  <a:pt x="761999" y="0"/>
                </a:lnTo>
                <a:lnTo>
                  <a:pt x="761999" y="47624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125"/>
              <a:t>Problem</a:t>
            </a:r>
            <a:r>
              <a:rPr dirty="0" sz="4500" spc="-484"/>
              <a:t> </a:t>
            </a:r>
            <a:r>
              <a:rPr dirty="0" sz="4500" spc="-85"/>
              <a:t>Formulation</a:t>
            </a:r>
            <a:endParaRPr sz="4500"/>
          </a:p>
        </p:txBody>
      </p:sp>
      <p:sp>
        <p:nvSpPr>
          <p:cNvPr id="4" name="object 4"/>
          <p:cNvSpPr txBox="1"/>
          <p:nvPr/>
        </p:nvSpPr>
        <p:spPr>
          <a:xfrm>
            <a:off x="2341289" y="3668069"/>
            <a:ext cx="7510145" cy="67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Modeling</a:t>
            </a:r>
            <a:r>
              <a:rPr dirty="0" sz="1650" spc="-11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Sudoku</a:t>
            </a:r>
            <a:r>
              <a:rPr dirty="0" sz="16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 spc="-30">
                <a:solidFill>
                  <a:srgbClr val="334155"/>
                </a:solidFill>
                <a:latin typeface="Tahoma"/>
                <a:cs typeface="Tahoma"/>
              </a:rPr>
              <a:t>as</a:t>
            </a:r>
            <a:r>
              <a:rPr dirty="0" sz="16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 spc="-40">
                <a:solidFill>
                  <a:srgbClr val="334155"/>
                </a:solidFill>
                <a:latin typeface="Tahoma"/>
                <a:cs typeface="Tahoma"/>
              </a:rPr>
              <a:t>a</a:t>
            </a:r>
            <a:r>
              <a:rPr dirty="0" sz="16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Constraint</a:t>
            </a:r>
            <a:r>
              <a:rPr dirty="0" sz="16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Satisfaction</a:t>
            </a:r>
            <a:r>
              <a:rPr dirty="0" sz="16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Problem</a:t>
            </a:r>
            <a:r>
              <a:rPr dirty="0" sz="1650" spc="-11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 spc="-35">
                <a:solidFill>
                  <a:srgbClr val="334155"/>
                </a:solidFill>
                <a:latin typeface="Tahoma"/>
                <a:cs typeface="Tahoma"/>
              </a:rPr>
              <a:t>(CSP)</a:t>
            </a:r>
            <a:r>
              <a:rPr dirty="0" sz="16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to</a:t>
            </a:r>
            <a:r>
              <a:rPr dirty="0" sz="16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334155"/>
                </a:solidFill>
                <a:latin typeface="Tahoma"/>
                <a:cs typeface="Tahoma"/>
              </a:rPr>
              <a:t>achieve</a:t>
            </a:r>
            <a:r>
              <a:rPr dirty="0" sz="16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334155"/>
                </a:solidFill>
                <a:latin typeface="Tahoma"/>
                <a:cs typeface="Tahoma"/>
              </a:rPr>
              <a:t>systematic</a:t>
            </a:r>
            <a:endParaRPr sz="16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185"/>
              </a:spcBef>
            </a:pPr>
            <a:r>
              <a:rPr dirty="0" sz="1650" spc="-10">
                <a:solidFill>
                  <a:srgbClr val="334155"/>
                </a:solidFill>
                <a:latin typeface="Tahoma"/>
                <a:cs typeface="Tahoma"/>
              </a:rPr>
              <a:t>and</a:t>
            </a:r>
            <a:r>
              <a:rPr dirty="0" sz="1650" spc="-114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efficient</a:t>
            </a:r>
            <a:r>
              <a:rPr dirty="0" sz="1650" spc="-11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334155"/>
                </a:solidFill>
                <a:latin typeface="Tahoma"/>
                <a:cs typeface="Tahoma"/>
              </a:rPr>
              <a:t>solutions.</a:t>
            </a:r>
            <a:endParaRPr sz="1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8800" y="542797"/>
            <a:ext cx="3679190" cy="50545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0"/>
              <a:t>Defining</a:t>
            </a:r>
            <a:r>
              <a:rPr dirty="0" spc="-340"/>
              <a:t> </a:t>
            </a:r>
            <a:r>
              <a:rPr dirty="0" spc="-100"/>
              <a:t>the</a:t>
            </a:r>
            <a:r>
              <a:rPr dirty="0" spc="-340"/>
              <a:t> </a:t>
            </a:r>
            <a:r>
              <a:rPr dirty="0" spc="-185"/>
              <a:t>Logic</a:t>
            </a:r>
          </a:p>
        </p:txBody>
      </p:sp>
      <p:sp>
        <p:nvSpPr>
          <p:cNvPr id="3" name="object 3"/>
          <p:cNvSpPr/>
          <p:nvPr/>
        </p:nvSpPr>
        <p:spPr>
          <a:xfrm>
            <a:off x="571500" y="1266825"/>
            <a:ext cx="11049000" cy="28575"/>
          </a:xfrm>
          <a:custGeom>
            <a:avLst/>
            <a:gdLst/>
            <a:ahLst/>
            <a:cxnLst/>
            <a:rect l="l" t="t" r="r" b="b"/>
            <a:pathLst>
              <a:path w="11049000" h="28575">
                <a:moveTo>
                  <a:pt x="11048999" y="28574"/>
                </a:moveTo>
                <a:lnTo>
                  <a:pt x="0" y="28574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28574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1700" y="2836774"/>
            <a:ext cx="3610610" cy="16738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10">
                <a:solidFill>
                  <a:srgbClr val="003366"/>
                </a:solidFill>
                <a:latin typeface="Arial Black"/>
                <a:cs typeface="Arial Black"/>
              </a:rPr>
              <a:t>CSP</a:t>
            </a:r>
            <a:r>
              <a:rPr dirty="0" sz="1400" spc="-155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003366"/>
                </a:solidFill>
                <a:latin typeface="Arial Black"/>
                <a:cs typeface="Arial Black"/>
              </a:rPr>
              <a:t>Modeling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dirty="0" sz="1350" spc="60">
                <a:solidFill>
                  <a:srgbClr val="334155"/>
                </a:solidFill>
                <a:latin typeface="Tahoma"/>
                <a:cs typeface="Tahoma"/>
              </a:rPr>
              <a:t>We</a:t>
            </a:r>
            <a:r>
              <a:rPr dirty="0" sz="13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treat</a:t>
            </a:r>
            <a:r>
              <a:rPr dirty="0" sz="13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Sudoku</a:t>
            </a:r>
            <a:r>
              <a:rPr dirty="0" sz="13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334155"/>
                </a:solidFill>
                <a:latin typeface="Tahoma"/>
                <a:cs typeface="Tahoma"/>
              </a:rPr>
              <a:t>as</a:t>
            </a:r>
            <a:r>
              <a:rPr dirty="0" sz="13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334155"/>
                </a:solidFill>
                <a:latin typeface="Tahoma"/>
                <a:cs typeface="Tahoma"/>
              </a:rPr>
              <a:t>a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triple</a:t>
            </a:r>
            <a:r>
              <a:rPr dirty="0" sz="13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25" b="1">
                <a:solidFill>
                  <a:srgbClr val="334155"/>
                </a:solidFill>
                <a:latin typeface="Tahoma"/>
                <a:cs typeface="Tahoma"/>
              </a:rPr>
              <a:t>(X,</a:t>
            </a:r>
            <a:r>
              <a:rPr dirty="0" sz="1350" spc="-95" b="1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0" b="1">
                <a:solidFill>
                  <a:srgbClr val="334155"/>
                </a:solidFill>
                <a:latin typeface="Tahoma"/>
                <a:cs typeface="Tahoma"/>
              </a:rPr>
              <a:t>D,</a:t>
            </a:r>
            <a:r>
              <a:rPr dirty="0" sz="1350" spc="-90" b="1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5" b="1">
                <a:solidFill>
                  <a:srgbClr val="334155"/>
                </a:solidFill>
                <a:latin typeface="Tahoma"/>
                <a:cs typeface="Tahoma"/>
              </a:rPr>
              <a:t>C)</a:t>
            </a:r>
            <a:r>
              <a:rPr dirty="0" sz="1350" spc="-25">
                <a:solidFill>
                  <a:srgbClr val="334155"/>
                </a:solidFill>
                <a:latin typeface="Tahoma"/>
                <a:cs typeface="Tahoma"/>
              </a:rPr>
              <a:t>: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350">
              <a:latin typeface="Tahoma"/>
              <a:cs typeface="Tahoma"/>
            </a:endParaRPr>
          </a:p>
          <a:p>
            <a:pPr marL="298450" indent="-190500">
              <a:lnSpc>
                <a:spcPct val="100000"/>
              </a:lnSpc>
              <a:buFont typeface="Tahoma"/>
              <a:buChar char="•"/>
              <a:tabLst>
                <a:tab pos="298450" algn="l"/>
              </a:tabLst>
            </a:pPr>
            <a:r>
              <a:rPr dirty="0" sz="1350" spc="-85" b="1">
                <a:solidFill>
                  <a:srgbClr val="334155"/>
                </a:solidFill>
                <a:latin typeface="Tahoma"/>
                <a:cs typeface="Tahoma"/>
              </a:rPr>
              <a:t>Variables</a:t>
            </a:r>
            <a:r>
              <a:rPr dirty="0" sz="1350" spc="-95" b="1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45" b="1">
                <a:solidFill>
                  <a:srgbClr val="334155"/>
                </a:solidFill>
                <a:latin typeface="Tahoma"/>
                <a:cs typeface="Tahoma"/>
              </a:rPr>
              <a:t>(X):</a:t>
            </a:r>
            <a:r>
              <a:rPr dirty="0" sz="1350" spc="-95" b="1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The</a:t>
            </a:r>
            <a:r>
              <a:rPr dirty="0" sz="13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81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cells</a:t>
            </a:r>
            <a:r>
              <a:rPr dirty="0" sz="13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in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the</a:t>
            </a:r>
            <a:r>
              <a:rPr dirty="0" sz="13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34155"/>
                </a:solidFill>
                <a:latin typeface="Tahoma"/>
                <a:cs typeface="Tahoma"/>
              </a:rPr>
              <a:t>9×9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grid.</a:t>
            </a:r>
            <a:endParaRPr sz="1350">
              <a:latin typeface="Tahoma"/>
              <a:cs typeface="Tahoma"/>
            </a:endParaRPr>
          </a:p>
          <a:p>
            <a:pPr marL="298450" indent="-190500">
              <a:lnSpc>
                <a:spcPct val="100000"/>
              </a:lnSpc>
              <a:spcBef>
                <a:spcPts val="540"/>
              </a:spcBef>
              <a:buFont typeface="Tahoma"/>
              <a:buChar char="•"/>
              <a:tabLst>
                <a:tab pos="298450" algn="l"/>
              </a:tabLst>
            </a:pPr>
            <a:r>
              <a:rPr dirty="0" sz="1350" spc="-100" b="1">
                <a:solidFill>
                  <a:srgbClr val="334155"/>
                </a:solidFill>
                <a:latin typeface="Tahoma"/>
                <a:cs typeface="Tahoma"/>
              </a:rPr>
              <a:t>Domains</a:t>
            </a:r>
            <a:r>
              <a:rPr dirty="0" sz="1350" spc="-80" b="1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60" b="1">
                <a:solidFill>
                  <a:srgbClr val="334155"/>
                </a:solidFill>
                <a:latin typeface="Tahoma"/>
                <a:cs typeface="Tahoma"/>
              </a:rPr>
              <a:t>(D):</a:t>
            </a:r>
            <a:r>
              <a:rPr dirty="0" sz="1350" spc="-80" b="1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Numbers</a:t>
            </a:r>
            <a:r>
              <a:rPr dirty="0" sz="1350" spc="-11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90">
                <a:solidFill>
                  <a:srgbClr val="334155"/>
                </a:solidFill>
                <a:latin typeface="Tahoma"/>
                <a:cs typeface="Tahoma"/>
              </a:rPr>
              <a:t>{1-</a:t>
            </a:r>
            <a:r>
              <a:rPr dirty="0" sz="1350" spc="-100">
                <a:solidFill>
                  <a:srgbClr val="334155"/>
                </a:solidFill>
                <a:latin typeface="Tahoma"/>
                <a:cs typeface="Tahoma"/>
              </a:rPr>
              <a:t>9}</a:t>
            </a:r>
            <a:r>
              <a:rPr dirty="0" sz="1350" spc="-11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for</a:t>
            </a:r>
            <a:r>
              <a:rPr dirty="0" sz="1350" spc="-11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empty</a:t>
            </a:r>
            <a:r>
              <a:rPr dirty="0" sz="1350" spc="-11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cells.</a:t>
            </a:r>
            <a:endParaRPr sz="1350">
              <a:latin typeface="Tahoma"/>
              <a:cs typeface="Tahoma"/>
            </a:endParaRPr>
          </a:p>
          <a:p>
            <a:pPr marL="298450" indent="-190500">
              <a:lnSpc>
                <a:spcPct val="100000"/>
              </a:lnSpc>
              <a:spcBef>
                <a:spcPts val="540"/>
              </a:spcBef>
              <a:buFont typeface="Tahoma"/>
              <a:buChar char="•"/>
              <a:tabLst>
                <a:tab pos="298450" algn="l"/>
              </a:tabLst>
            </a:pPr>
            <a:r>
              <a:rPr dirty="0" sz="1350" spc="-80" b="1">
                <a:solidFill>
                  <a:srgbClr val="334155"/>
                </a:solidFill>
                <a:latin typeface="Tahoma"/>
                <a:cs typeface="Tahoma"/>
              </a:rPr>
              <a:t>Constraints</a:t>
            </a:r>
            <a:r>
              <a:rPr dirty="0" sz="1350" spc="-100" b="1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50" b="1">
                <a:solidFill>
                  <a:srgbClr val="334155"/>
                </a:solidFill>
                <a:latin typeface="Tahoma"/>
                <a:cs typeface="Tahoma"/>
              </a:rPr>
              <a:t>(C):</a:t>
            </a:r>
            <a:r>
              <a:rPr dirty="0" sz="1350" spc="-100" b="1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Rules</a:t>
            </a:r>
            <a:r>
              <a:rPr dirty="0" sz="1350" spc="-13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preventing</a:t>
            </a:r>
            <a:r>
              <a:rPr dirty="0" sz="1350" spc="-13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repetition.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64325" y="2836774"/>
            <a:ext cx="3304540" cy="16738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95">
                <a:solidFill>
                  <a:srgbClr val="003366"/>
                </a:solidFill>
                <a:latin typeface="Arial Black"/>
                <a:cs typeface="Arial Black"/>
              </a:rPr>
              <a:t>The</a:t>
            </a:r>
            <a:r>
              <a:rPr dirty="0" sz="1400" spc="-145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003366"/>
                </a:solidFill>
                <a:latin typeface="Arial Black"/>
                <a:cs typeface="Arial Black"/>
              </a:rPr>
              <a:t>Constraints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The</a:t>
            </a:r>
            <a:r>
              <a:rPr dirty="0" sz="135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solution</a:t>
            </a:r>
            <a:r>
              <a:rPr dirty="0" sz="1350" spc="-9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must</a:t>
            </a:r>
            <a:r>
              <a:rPr dirty="0" sz="135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satisfy</a:t>
            </a:r>
            <a:r>
              <a:rPr dirty="0" sz="1350" spc="-9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three</a:t>
            </a:r>
            <a:r>
              <a:rPr dirty="0" sz="135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strict</a:t>
            </a:r>
            <a:r>
              <a:rPr dirty="0" sz="1350" spc="-9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rules: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350">
              <a:latin typeface="Tahoma"/>
              <a:cs typeface="Tahoma"/>
            </a:endParaRPr>
          </a:p>
          <a:p>
            <a:pPr marL="298450" indent="-190500">
              <a:lnSpc>
                <a:spcPct val="100000"/>
              </a:lnSpc>
              <a:buFont typeface="Tahoma"/>
              <a:buChar char="•"/>
              <a:tabLst>
                <a:tab pos="298450" algn="l"/>
              </a:tabLst>
            </a:pPr>
            <a:r>
              <a:rPr dirty="0" sz="1350" spc="-120" b="1">
                <a:solidFill>
                  <a:srgbClr val="334155"/>
                </a:solidFill>
                <a:latin typeface="Tahoma"/>
                <a:cs typeface="Tahoma"/>
              </a:rPr>
              <a:t>Row:</a:t>
            </a:r>
            <a:r>
              <a:rPr dirty="0" sz="1350" spc="-85" b="1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34155"/>
                </a:solidFill>
                <a:latin typeface="Tahoma"/>
                <a:cs typeface="Tahoma"/>
              </a:rPr>
              <a:t>No</a:t>
            </a:r>
            <a:r>
              <a:rPr dirty="0" sz="1350" spc="-114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duplicate</a:t>
            </a:r>
            <a:r>
              <a:rPr dirty="0" sz="1350" spc="-114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in</a:t>
            </a:r>
            <a:r>
              <a:rPr dirty="0" sz="1350" spc="-114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34155"/>
                </a:solidFill>
                <a:latin typeface="Tahoma"/>
                <a:cs typeface="Tahoma"/>
              </a:rPr>
              <a:t>any</a:t>
            </a:r>
            <a:r>
              <a:rPr dirty="0" sz="1350" spc="-11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horizontal</a:t>
            </a:r>
            <a:r>
              <a:rPr dirty="0" sz="1350" spc="-114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line.</a:t>
            </a:r>
            <a:endParaRPr sz="1350">
              <a:latin typeface="Tahoma"/>
              <a:cs typeface="Tahoma"/>
            </a:endParaRPr>
          </a:p>
          <a:p>
            <a:pPr marL="298450" indent="-190500">
              <a:lnSpc>
                <a:spcPct val="100000"/>
              </a:lnSpc>
              <a:spcBef>
                <a:spcPts val="540"/>
              </a:spcBef>
              <a:buFont typeface="Tahoma"/>
              <a:buChar char="•"/>
              <a:tabLst>
                <a:tab pos="298450" algn="l"/>
              </a:tabLst>
            </a:pPr>
            <a:r>
              <a:rPr dirty="0" sz="1350" spc="-75" b="1">
                <a:solidFill>
                  <a:srgbClr val="334155"/>
                </a:solidFill>
                <a:latin typeface="Tahoma"/>
                <a:cs typeface="Tahoma"/>
              </a:rPr>
              <a:t>Col:</a:t>
            </a:r>
            <a:r>
              <a:rPr dirty="0" sz="1350" spc="-90" b="1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34155"/>
                </a:solidFill>
                <a:latin typeface="Tahoma"/>
                <a:cs typeface="Tahoma"/>
              </a:rPr>
              <a:t>No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duplicate</a:t>
            </a:r>
            <a:r>
              <a:rPr dirty="0" sz="1350" spc="-114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in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34155"/>
                </a:solidFill>
                <a:latin typeface="Tahoma"/>
                <a:cs typeface="Tahoma"/>
              </a:rPr>
              <a:t>any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vertical</a:t>
            </a:r>
            <a:r>
              <a:rPr dirty="0" sz="1350" spc="-114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line.</a:t>
            </a:r>
            <a:endParaRPr sz="1350">
              <a:latin typeface="Tahoma"/>
              <a:cs typeface="Tahoma"/>
            </a:endParaRPr>
          </a:p>
          <a:p>
            <a:pPr marL="298450" indent="-190500">
              <a:lnSpc>
                <a:spcPct val="100000"/>
              </a:lnSpc>
              <a:spcBef>
                <a:spcPts val="540"/>
              </a:spcBef>
              <a:buFont typeface="Tahoma"/>
              <a:buChar char="•"/>
              <a:tabLst>
                <a:tab pos="298450" algn="l"/>
              </a:tabLst>
            </a:pPr>
            <a:r>
              <a:rPr dirty="0" sz="1350" spc="-85" b="1">
                <a:solidFill>
                  <a:srgbClr val="334155"/>
                </a:solidFill>
                <a:latin typeface="Tahoma"/>
                <a:cs typeface="Tahoma"/>
              </a:rPr>
              <a:t>Block:</a:t>
            </a:r>
            <a:r>
              <a:rPr dirty="0" sz="1350" spc="-105" b="1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34155"/>
                </a:solidFill>
                <a:latin typeface="Tahoma"/>
                <a:cs typeface="Tahoma"/>
              </a:rPr>
              <a:t>No</a:t>
            </a:r>
            <a:r>
              <a:rPr dirty="0" sz="1350" spc="-13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duplicate</a:t>
            </a:r>
            <a:r>
              <a:rPr dirty="0" sz="1350" spc="-13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in</a:t>
            </a:r>
            <a:r>
              <a:rPr dirty="0" sz="1350" spc="-13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34155"/>
                </a:solidFill>
                <a:latin typeface="Tahoma"/>
                <a:cs typeface="Tahoma"/>
              </a:rPr>
              <a:t>any</a:t>
            </a:r>
            <a:r>
              <a:rPr dirty="0" sz="1350" spc="-13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34155"/>
                </a:solidFill>
                <a:latin typeface="Tahoma"/>
                <a:cs typeface="Tahoma"/>
              </a:rPr>
              <a:t>3×3</a:t>
            </a:r>
            <a:r>
              <a:rPr dirty="0" sz="1350" spc="-13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subgrid.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379315"/>
            <a:ext cx="3492548" cy="28231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9798" y="2379315"/>
            <a:ext cx="3492548" cy="28231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8099" y="2379315"/>
            <a:ext cx="3492547" cy="282311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Search</a:t>
            </a:r>
            <a:r>
              <a:rPr dirty="0" spc="-330"/>
              <a:t> </a:t>
            </a:r>
            <a:r>
              <a:rPr dirty="0" spc="-90"/>
              <a:t>Problem</a:t>
            </a:r>
            <a:r>
              <a:rPr dirty="0" spc="-325"/>
              <a:t> </a:t>
            </a:r>
            <a:r>
              <a:rPr dirty="0" spc="-35"/>
              <a:t>Components</a:t>
            </a:r>
          </a:p>
        </p:txBody>
      </p:sp>
      <p:sp>
        <p:nvSpPr>
          <p:cNvPr id="6" name="object 6"/>
          <p:cNvSpPr/>
          <p:nvPr/>
        </p:nvSpPr>
        <p:spPr>
          <a:xfrm>
            <a:off x="571500" y="1266825"/>
            <a:ext cx="11049000" cy="28575"/>
          </a:xfrm>
          <a:custGeom>
            <a:avLst/>
            <a:gdLst/>
            <a:ahLst/>
            <a:cxnLst/>
            <a:rect l="l" t="t" r="r" b="b"/>
            <a:pathLst>
              <a:path w="11049000" h="28575">
                <a:moveTo>
                  <a:pt x="11048999" y="28574"/>
                </a:moveTo>
                <a:lnTo>
                  <a:pt x="0" y="28574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28574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87557" y="3386170"/>
            <a:ext cx="266065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75">
                <a:solidFill>
                  <a:srgbClr val="003366"/>
                </a:solidFill>
                <a:latin typeface="Arial Black"/>
                <a:cs typeface="Arial Black"/>
              </a:rPr>
              <a:t>Initial</a:t>
            </a:r>
            <a:r>
              <a:rPr dirty="0" sz="1800" spc="-155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1800" spc="-10">
                <a:solidFill>
                  <a:srgbClr val="003366"/>
                </a:solidFill>
                <a:latin typeface="Arial Black"/>
                <a:cs typeface="Arial Black"/>
              </a:rPr>
              <a:t>State</a:t>
            </a:r>
            <a:endParaRPr sz="1800">
              <a:latin typeface="Arial Black"/>
              <a:cs typeface="Arial Black"/>
            </a:endParaRPr>
          </a:p>
          <a:p>
            <a:pPr algn="ctr" marL="12700" marR="5080">
              <a:lnSpc>
                <a:spcPct val="160000"/>
              </a:lnSpc>
              <a:spcBef>
                <a:spcPts val="860"/>
              </a:spcBef>
            </a:pP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The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unsolved</a:t>
            </a:r>
            <a:r>
              <a:rPr dirty="0" sz="1350" spc="-114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9x9</a:t>
            </a:r>
            <a:r>
              <a:rPr dirty="0" sz="1350" spc="-114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board</a:t>
            </a:r>
            <a:r>
              <a:rPr dirty="0" sz="1350" spc="-114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with</a:t>
            </a:r>
            <a:r>
              <a:rPr dirty="0" sz="1350" spc="-114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34155"/>
                </a:solidFill>
                <a:latin typeface="Tahoma"/>
                <a:cs typeface="Tahoma"/>
              </a:rPr>
              <a:t>some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pre-filled</a:t>
            </a:r>
            <a:r>
              <a:rPr dirty="0" sz="1350" spc="-13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numbers</a:t>
            </a:r>
            <a:r>
              <a:rPr dirty="0" sz="1350" spc="-13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34155"/>
                </a:solidFill>
                <a:latin typeface="Tahoma"/>
                <a:cs typeface="Tahoma"/>
              </a:rPr>
              <a:t>and</a:t>
            </a:r>
            <a:r>
              <a:rPr dirty="0" sz="1350" spc="-13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empty</a:t>
            </a:r>
            <a:r>
              <a:rPr dirty="0" sz="1350" spc="-13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spots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represented</a:t>
            </a:r>
            <a:r>
              <a:rPr dirty="0" sz="13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334155"/>
                </a:solidFill>
                <a:latin typeface="Tahoma"/>
                <a:cs typeface="Tahoma"/>
              </a:rPr>
              <a:t>as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34155"/>
                </a:solidFill>
                <a:latin typeface="Tahoma"/>
                <a:cs typeface="Tahoma"/>
              </a:rPr>
              <a:t>0.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14421" y="3386170"/>
            <a:ext cx="276352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03366"/>
                </a:solidFill>
                <a:latin typeface="Arial Black"/>
                <a:cs typeface="Arial Black"/>
              </a:rPr>
              <a:t>Actions</a:t>
            </a:r>
            <a:endParaRPr sz="1800">
              <a:latin typeface="Arial Black"/>
              <a:cs typeface="Arial Black"/>
            </a:endParaRPr>
          </a:p>
          <a:p>
            <a:pPr algn="ctr" marL="12065" marR="5080">
              <a:lnSpc>
                <a:spcPct val="160000"/>
              </a:lnSpc>
              <a:spcBef>
                <a:spcPts val="860"/>
              </a:spcBef>
            </a:pP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Placing</a:t>
            </a:r>
            <a:r>
              <a:rPr dirty="0" sz="1350" spc="-13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334155"/>
                </a:solidFill>
                <a:latin typeface="Tahoma"/>
                <a:cs typeface="Tahoma"/>
              </a:rPr>
              <a:t>a</a:t>
            </a:r>
            <a:r>
              <a:rPr dirty="0" sz="13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valid</a:t>
            </a:r>
            <a:r>
              <a:rPr dirty="0" sz="1350" spc="-13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number</a:t>
            </a:r>
            <a:r>
              <a:rPr dirty="0" sz="13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334155"/>
                </a:solidFill>
                <a:latin typeface="Tahoma"/>
                <a:cs typeface="Tahoma"/>
              </a:rPr>
              <a:t>(1-</a:t>
            </a:r>
            <a:r>
              <a:rPr dirty="0" sz="1350" spc="-40">
                <a:solidFill>
                  <a:srgbClr val="334155"/>
                </a:solidFill>
                <a:latin typeface="Tahoma"/>
                <a:cs typeface="Tahoma"/>
              </a:rPr>
              <a:t>9)</a:t>
            </a:r>
            <a:r>
              <a:rPr dirty="0" sz="13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into</a:t>
            </a:r>
            <a:r>
              <a:rPr dirty="0" sz="1350" spc="-13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34155"/>
                </a:solidFill>
                <a:latin typeface="Tahoma"/>
                <a:cs typeface="Tahoma"/>
              </a:rPr>
              <a:t>an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empty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spot</a:t>
            </a:r>
            <a:r>
              <a:rPr dirty="0" sz="1350" spc="-10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without</a:t>
            </a:r>
            <a:r>
              <a:rPr dirty="0" sz="1350" spc="-10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violating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Sudoku constraints.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50202" y="3386170"/>
            <a:ext cx="284861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75">
                <a:solidFill>
                  <a:srgbClr val="003366"/>
                </a:solidFill>
                <a:latin typeface="Arial Black"/>
                <a:cs typeface="Arial Black"/>
              </a:rPr>
              <a:t>Goal</a:t>
            </a:r>
            <a:r>
              <a:rPr dirty="0" sz="1800" spc="-20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1800" spc="-20">
                <a:solidFill>
                  <a:srgbClr val="003366"/>
                </a:solidFill>
                <a:latin typeface="Arial Black"/>
                <a:cs typeface="Arial Black"/>
              </a:rPr>
              <a:t>Test</a:t>
            </a:r>
            <a:endParaRPr sz="1800">
              <a:latin typeface="Arial Black"/>
              <a:cs typeface="Arial Black"/>
            </a:endParaRPr>
          </a:p>
          <a:p>
            <a:pPr algn="ctr" marL="12700" marR="5080">
              <a:lnSpc>
                <a:spcPct val="160000"/>
              </a:lnSpc>
              <a:spcBef>
                <a:spcPts val="860"/>
              </a:spcBef>
            </a:pPr>
            <a:r>
              <a:rPr dirty="0" sz="1350" spc="50">
                <a:solidFill>
                  <a:srgbClr val="334155"/>
                </a:solidFill>
                <a:latin typeface="Tahoma"/>
                <a:cs typeface="Tahoma"/>
              </a:rPr>
              <a:t>All</a:t>
            </a:r>
            <a:r>
              <a:rPr dirty="0" sz="1350" spc="-11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81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spots</a:t>
            </a:r>
            <a:r>
              <a:rPr dirty="0" sz="1350" spc="-11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are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correctly</a:t>
            </a:r>
            <a:r>
              <a:rPr dirty="0" sz="1350" spc="-11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filled,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34155"/>
                </a:solidFill>
                <a:latin typeface="Tahoma"/>
                <a:cs typeface="Tahoma"/>
              </a:rPr>
              <a:t>and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34155"/>
                </a:solidFill>
                <a:latin typeface="Tahoma"/>
                <a:cs typeface="Tahoma"/>
              </a:rPr>
              <a:t>all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rules</a:t>
            </a:r>
            <a:r>
              <a:rPr dirty="0" sz="1350" spc="-13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34155"/>
                </a:solidFill>
                <a:latin typeface="Tahoma"/>
                <a:cs typeface="Tahoma"/>
              </a:rPr>
              <a:t>(Row,</a:t>
            </a:r>
            <a:r>
              <a:rPr dirty="0" sz="1350" spc="-13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Col,</a:t>
            </a:r>
            <a:r>
              <a:rPr dirty="0" sz="1350" spc="-13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34155"/>
                </a:solidFill>
                <a:latin typeface="Tahoma"/>
                <a:cs typeface="Tahoma"/>
              </a:rPr>
              <a:t>Box)</a:t>
            </a:r>
            <a:r>
              <a:rPr dirty="0" sz="1350" spc="-13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are</a:t>
            </a:r>
            <a:r>
              <a:rPr dirty="0" sz="1350" spc="-13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strictly followed.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6250" y="2722215"/>
            <a:ext cx="342899" cy="4571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10250" y="2722215"/>
            <a:ext cx="571499" cy="4571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74274" y="2722215"/>
            <a:ext cx="400049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0"/>
              <a:t>Intelligent</a:t>
            </a:r>
            <a:r>
              <a:rPr dirty="0" spc="-330"/>
              <a:t> </a:t>
            </a:r>
            <a:r>
              <a:rPr dirty="0" spc="-125"/>
              <a:t>Cell</a:t>
            </a:r>
            <a:r>
              <a:rPr dirty="0" spc="-325"/>
              <a:t> </a:t>
            </a:r>
            <a:r>
              <a:rPr dirty="0" spc="-130"/>
              <a:t>Selection</a:t>
            </a:r>
          </a:p>
        </p:txBody>
      </p:sp>
      <p:sp>
        <p:nvSpPr>
          <p:cNvPr id="3" name="object 3"/>
          <p:cNvSpPr/>
          <p:nvPr/>
        </p:nvSpPr>
        <p:spPr>
          <a:xfrm>
            <a:off x="571500" y="1266825"/>
            <a:ext cx="11049000" cy="28575"/>
          </a:xfrm>
          <a:custGeom>
            <a:avLst/>
            <a:gdLst/>
            <a:ahLst/>
            <a:cxnLst/>
            <a:rect l="l" t="t" r="r" b="b"/>
            <a:pathLst>
              <a:path w="11049000" h="28575">
                <a:moveTo>
                  <a:pt x="11048999" y="28499"/>
                </a:moveTo>
                <a:lnTo>
                  <a:pt x="0" y="284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28499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66737" y="1519237"/>
            <a:ext cx="3438525" cy="4010025"/>
            <a:chOff x="566737" y="1519237"/>
            <a:chExt cx="3438525" cy="4010025"/>
          </a:xfrm>
        </p:grpSpPr>
        <p:sp>
          <p:nvSpPr>
            <p:cNvPr id="5" name="object 5"/>
            <p:cNvSpPr/>
            <p:nvPr/>
          </p:nvSpPr>
          <p:spPr>
            <a:xfrm>
              <a:off x="571500" y="15240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3286147" y="4000499"/>
                  </a:moveTo>
                  <a:lnTo>
                    <a:pt x="142852" y="4000499"/>
                  </a:lnTo>
                  <a:lnTo>
                    <a:pt x="97699" y="3993217"/>
                  </a:lnTo>
                  <a:lnTo>
                    <a:pt x="58485" y="3972937"/>
                  </a:lnTo>
                  <a:lnTo>
                    <a:pt x="27562" y="3942014"/>
                  </a:lnTo>
                  <a:lnTo>
                    <a:pt x="7282" y="3902800"/>
                  </a:lnTo>
                  <a:lnTo>
                    <a:pt x="0" y="3857647"/>
                  </a:lnTo>
                  <a:lnTo>
                    <a:pt x="0" y="142852"/>
                  </a:lnTo>
                  <a:lnTo>
                    <a:pt x="7282" y="97699"/>
                  </a:lnTo>
                  <a:lnTo>
                    <a:pt x="27562" y="58485"/>
                  </a:lnTo>
                  <a:lnTo>
                    <a:pt x="58485" y="27562"/>
                  </a:lnTo>
                  <a:lnTo>
                    <a:pt x="97699" y="7282"/>
                  </a:lnTo>
                  <a:lnTo>
                    <a:pt x="142852" y="0"/>
                  </a:lnTo>
                  <a:lnTo>
                    <a:pt x="3286147" y="0"/>
                  </a:lnTo>
                  <a:lnTo>
                    <a:pt x="3340815" y="10873"/>
                  </a:lnTo>
                  <a:lnTo>
                    <a:pt x="3387159" y="41840"/>
                  </a:lnTo>
                  <a:lnTo>
                    <a:pt x="3418126" y="88184"/>
                  </a:lnTo>
                  <a:lnTo>
                    <a:pt x="3428999" y="142852"/>
                  </a:lnTo>
                  <a:lnTo>
                    <a:pt x="3428999" y="3857647"/>
                  </a:lnTo>
                  <a:lnTo>
                    <a:pt x="3421717" y="3902800"/>
                  </a:lnTo>
                  <a:lnTo>
                    <a:pt x="3401437" y="3942014"/>
                  </a:lnTo>
                  <a:lnTo>
                    <a:pt x="3370514" y="3972937"/>
                  </a:lnTo>
                  <a:lnTo>
                    <a:pt x="3331300" y="3993217"/>
                  </a:lnTo>
                  <a:lnTo>
                    <a:pt x="3286147" y="4000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71500" y="1524000"/>
              <a:ext cx="3429000" cy="4000500"/>
            </a:xfrm>
            <a:custGeom>
              <a:avLst/>
              <a:gdLst/>
              <a:ahLst/>
              <a:cxnLst/>
              <a:rect l="l" t="t" r="r" b="b"/>
              <a:pathLst>
                <a:path w="3429000" h="4000500">
                  <a:moveTo>
                    <a:pt x="0" y="142852"/>
                  </a:moveTo>
                  <a:lnTo>
                    <a:pt x="7282" y="97699"/>
                  </a:lnTo>
                  <a:lnTo>
                    <a:pt x="27562" y="58485"/>
                  </a:lnTo>
                  <a:lnTo>
                    <a:pt x="58485" y="27562"/>
                  </a:lnTo>
                  <a:lnTo>
                    <a:pt x="97699" y="7282"/>
                  </a:lnTo>
                  <a:lnTo>
                    <a:pt x="142852" y="0"/>
                  </a:lnTo>
                  <a:lnTo>
                    <a:pt x="3286147" y="0"/>
                  </a:lnTo>
                  <a:lnTo>
                    <a:pt x="3340815" y="10873"/>
                  </a:lnTo>
                  <a:lnTo>
                    <a:pt x="3387159" y="41840"/>
                  </a:lnTo>
                  <a:lnTo>
                    <a:pt x="3418126" y="88184"/>
                  </a:lnTo>
                  <a:lnTo>
                    <a:pt x="3428999" y="142852"/>
                  </a:lnTo>
                  <a:lnTo>
                    <a:pt x="3428999" y="3857647"/>
                  </a:lnTo>
                  <a:lnTo>
                    <a:pt x="3421717" y="3902800"/>
                  </a:lnTo>
                  <a:lnTo>
                    <a:pt x="3401437" y="3942014"/>
                  </a:lnTo>
                  <a:lnTo>
                    <a:pt x="3370514" y="3972937"/>
                  </a:lnTo>
                  <a:lnTo>
                    <a:pt x="3331300" y="3993217"/>
                  </a:lnTo>
                  <a:lnTo>
                    <a:pt x="3286147" y="4000499"/>
                  </a:lnTo>
                  <a:lnTo>
                    <a:pt x="142852" y="4000499"/>
                  </a:lnTo>
                  <a:lnTo>
                    <a:pt x="97699" y="3993217"/>
                  </a:lnTo>
                  <a:lnTo>
                    <a:pt x="58485" y="3972937"/>
                  </a:lnTo>
                  <a:lnTo>
                    <a:pt x="27562" y="3942014"/>
                  </a:lnTo>
                  <a:lnTo>
                    <a:pt x="7282" y="3902800"/>
                  </a:lnTo>
                  <a:lnTo>
                    <a:pt x="0" y="3857647"/>
                  </a:lnTo>
                  <a:lnTo>
                    <a:pt x="0" y="142852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96925" y="1740280"/>
            <a:ext cx="2855595" cy="811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20">
                <a:solidFill>
                  <a:srgbClr val="003366"/>
                </a:solidFill>
                <a:latin typeface="Arial Black"/>
                <a:cs typeface="Arial Black"/>
              </a:rPr>
              <a:t>MRV</a:t>
            </a:r>
            <a:r>
              <a:rPr dirty="0" sz="1800" spc="-22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1800" spc="-10">
                <a:solidFill>
                  <a:srgbClr val="003366"/>
                </a:solidFill>
                <a:latin typeface="Arial Black"/>
                <a:cs typeface="Arial Black"/>
              </a:rPr>
              <a:t>Heuristic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ts val="1430"/>
              </a:lnSpc>
              <a:spcBef>
                <a:spcPts val="1220"/>
              </a:spcBef>
            </a:pPr>
            <a:r>
              <a:rPr dirty="0" sz="1200" spc="-10">
                <a:solidFill>
                  <a:srgbClr val="334155"/>
                </a:solidFill>
                <a:latin typeface="Tahoma"/>
                <a:cs typeface="Tahoma"/>
              </a:rPr>
              <a:t>The</a:t>
            </a:r>
            <a:r>
              <a:rPr dirty="0" sz="1200" spc="-11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34155"/>
                </a:solidFill>
                <a:latin typeface="Tahoma"/>
                <a:cs typeface="Tahoma"/>
              </a:rPr>
              <a:t>algorithm</a:t>
            </a:r>
            <a:r>
              <a:rPr dirty="0" sz="1200" spc="-11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334155"/>
                </a:solidFill>
                <a:latin typeface="Tahoma"/>
                <a:cs typeface="Tahoma"/>
              </a:rPr>
              <a:t>uses</a:t>
            </a:r>
            <a:r>
              <a:rPr dirty="0" sz="1200" spc="-11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 spc="-80" b="1">
                <a:solidFill>
                  <a:srgbClr val="334155"/>
                </a:solidFill>
                <a:latin typeface="Tahoma"/>
                <a:cs typeface="Tahoma"/>
              </a:rPr>
              <a:t>Minimum</a:t>
            </a:r>
            <a:r>
              <a:rPr dirty="0" sz="1200" spc="-85" b="1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334155"/>
                </a:solidFill>
                <a:latin typeface="Tahoma"/>
                <a:cs typeface="Tahoma"/>
              </a:rPr>
              <a:t>Remaining </a:t>
            </a:r>
            <a:r>
              <a:rPr dirty="0" sz="1200" spc="-80" b="1">
                <a:solidFill>
                  <a:srgbClr val="334155"/>
                </a:solidFill>
                <a:latin typeface="Tahoma"/>
                <a:cs typeface="Tahoma"/>
              </a:rPr>
              <a:t>Values</a:t>
            </a:r>
            <a:r>
              <a:rPr dirty="0" sz="1200" spc="-95" b="1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 spc="-85" b="1">
                <a:solidFill>
                  <a:srgbClr val="334155"/>
                </a:solidFill>
                <a:latin typeface="Tahoma"/>
                <a:cs typeface="Tahoma"/>
              </a:rPr>
              <a:t>(MRV)</a:t>
            </a:r>
            <a:r>
              <a:rPr dirty="0" sz="1200" spc="-100" b="1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34155"/>
                </a:solidFill>
                <a:latin typeface="Tahoma"/>
                <a:cs typeface="Tahoma"/>
              </a:rPr>
              <a:t>to</a:t>
            </a:r>
            <a:r>
              <a:rPr dirty="0" sz="1200" spc="-114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34155"/>
                </a:solidFill>
                <a:latin typeface="Tahoma"/>
                <a:cs typeface="Tahoma"/>
              </a:rPr>
              <a:t>minimize</a:t>
            </a:r>
            <a:r>
              <a:rPr dirty="0" sz="120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34155"/>
                </a:solidFill>
                <a:latin typeface="Tahoma"/>
                <a:cs typeface="Tahoma"/>
              </a:rPr>
              <a:t>search</a:t>
            </a:r>
            <a:r>
              <a:rPr dirty="0" sz="120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334155"/>
                </a:solidFill>
                <a:latin typeface="Tahoma"/>
                <a:cs typeface="Tahoma"/>
              </a:rPr>
              <a:t>space</a:t>
            </a:r>
            <a:r>
              <a:rPr dirty="0" sz="1200" spc="-114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334155"/>
                </a:solidFill>
                <a:latin typeface="Tahoma"/>
                <a:cs typeface="Tahoma"/>
              </a:rPr>
              <a:t>via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9625" y="2543175"/>
            <a:ext cx="1097915" cy="182880"/>
          </a:xfrm>
          <a:prstGeom prst="rect">
            <a:avLst/>
          </a:prstGeom>
          <a:solidFill>
            <a:srgbClr val="F1F4F9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90"/>
              </a:lnSpc>
            </a:pPr>
            <a:r>
              <a:rPr dirty="0" sz="1200" spc="-10" b="1">
                <a:solidFill>
                  <a:srgbClr val="334155"/>
                </a:solidFill>
                <a:latin typeface="Courier New"/>
                <a:cs typeface="Courier New"/>
              </a:rPr>
              <a:t>get_mrv_cell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94383" y="2524379"/>
            <a:ext cx="577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5">
                <a:solidFill>
                  <a:srgbClr val="334155"/>
                </a:solidFill>
                <a:latin typeface="Tahoma"/>
                <a:cs typeface="Tahoma"/>
              </a:rPr>
              <a:t>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6925" y="2819654"/>
            <a:ext cx="2966085" cy="86550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100965">
              <a:lnSpc>
                <a:spcPts val="1430"/>
              </a:lnSpc>
              <a:spcBef>
                <a:spcPts val="155"/>
              </a:spcBef>
            </a:pPr>
            <a:r>
              <a:rPr dirty="0" sz="1200" spc="-100" b="1">
                <a:solidFill>
                  <a:srgbClr val="003366"/>
                </a:solidFill>
                <a:latin typeface="Tahoma"/>
                <a:cs typeface="Tahoma"/>
              </a:rPr>
              <a:t>Scanning:</a:t>
            </a:r>
            <a:r>
              <a:rPr dirty="0" sz="1200" spc="-70" b="1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34155"/>
                </a:solidFill>
                <a:latin typeface="Tahoma"/>
                <a:cs typeface="Tahoma"/>
              </a:rPr>
              <a:t>Evaluates</a:t>
            </a:r>
            <a:r>
              <a:rPr dirty="0" sz="120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34155"/>
                </a:solidFill>
                <a:latin typeface="Tahoma"/>
                <a:cs typeface="Tahoma"/>
              </a:rPr>
              <a:t>all</a:t>
            </a:r>
            <a:r>
              <a:rPr dirty="0" sz="1200" spc="-9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34155"/>
                </a:solidFill>
                <a:latin typeface="Tahoma"/>
                <a:cs typeface="Tahoma"/>
              </a:rPr>
              <a:t>81</a:t>
            </a:r>
            <a:r>
              <a:rPr dirty="0" sz="120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34155"/>
                </a:solidFill>
                <a:latin typeface="Tahoma"/>
                <a:cs typeface="Tahoma"/>
              </a:rPr>
              <a:t>cells</a:t>
            </a:r>
            <a:r>
              <a:rPr dirty="0" sz="1200" spc="-9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34155"/>
                </a:solidFill>
                <a:latin typeface="Tahoma"/>
                <a:cs typeface="Tahoma"/>
              </a:rPr>
              <a:t>to</a:t>
            </a:r>
            <a:r>
              <a:rPr dirty="0" sz="120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334155"/>
                </a:solidFill>
                <a:latin typeface="Tahoma"/>
                <a:cs typeface="Tahoma"/>
              </a:rPr>
              <a:t>calculate legal</a:t>
            </a:r>
            <a:r>
              <a:rPr dirty="0" sz="1200" spc="-114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34155"/>
                </a:solidFill>
                <a:latin typeface="Tahoma"/>
                <a:cs typeface="Tahoma"/>
              </a:rPr>
              <a:t>options</a:t>
            </a:r>
            <a:r>
              <a:rPr dirty="0" sz="1200" spc="-114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334155"/>
                </a:solidFill>
                <a:latin typeface="Tahoma"/>
                <a:cs typeface="Tahoma"/>
              </a:rPr>
              <a:t>(1-9)</a:t>
            </a:r>
            <a:r>
              <a:rPr dirty="0" sz="1200" spc="-11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334155"/>
                </a:solidFill>
                <a:latin typeface="Tahoma"/>
                <a:cs typeface="Tahoma"/>
              </a:rPr>
              <a:t>based</a:t>
            </a:r>
            <a:r>
              <a:rPr dirty="0" sz="1200" spc="-114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34155"/>
                </a:solidFill>
                <a:latin typeface="Tahoma"/>
                <a:cs typeface="Tahoma"/>
              </a:rPr>
              <a:t>on</a:t>
            </a:r>
            <a:r>
              <a:rPr dirty="0" sz="1200" spc="-11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334155"/>
                </a:solidFill>
                <a:latin typeface="Tahoma"/>
                <a:cs typeface="Tahoma"/>
              </a:rPr>
              <a:t>current constraints.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200" spc="-40">
                <a:solidFill>
                  <a:srgbClr val="334155"/>
                </a:solidFill>
                <a:latin typeface="Tahoma"/>
                <a:cs typeface="Tahoma"/>
              </a:rPr>
              <a:t>If</a:t>
            </a:r>
            <a:r>
              <a:rPr dirty="0" sz="120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34155"/>
                </a:solidFill>
                <a:latin typeface="Tahoma"/>
                <a:cs typeface="Tahoma"/>
              </a:rPr>
              <a:t>no</a:t>
            </a:r>
            <a:r>
              <a:rPr dirty="0" sz="120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34155"/>
                </a:solidFill>
                <a:latin typeface="Tahoma"/>
                <a:cs typeface="Tahoma"/>
              </a:rPr>
              <a:t>empty</a:t>
            </a:r>
            <a:r>
              <a:rPr dirty="0" sz="120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34155"/>
                </a:solidFill>
                <a:latin typeface="Tahoma"/>
                <a:cs typeface="Tahoma"/>
              </a:rPr>
              <a:t>cells</a:t>
            </a:r>
            <a:r>
              <a:rPr dirty="0" sz="120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334155"/>
                </a:solidFill>
                <a:latin typeface="Tahoma"/>
                <a:cs typeface="Tahoma"/>
              </a:rPr>
              <a:t>remain,</a:t>
            </a:r>
            <a:r>
              <a:rPr dirty="0" sz="120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34155"/>
                </a:solidFill>
                <a:latin typeface="Tahoma"/>
                <a:cs typeface="Tahoma"/>
              </a:rPr>
              <a:t>the</a:t>
            </a:r>
            <a:r>
              <a:rPr dirty="0" sz="120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34155"/>
                </a:solidFill>
                <a:latin typeface="Tahoma"/>
                <a:cs typeface="Tahoma"/>
              </a:rPr>
              <a:t>puzzle</a:t>
            </a:r>
            <a:r>
              <a:rPr dirty="0" sz="120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34155"/>
                </a:solidFill>
                <a:latin typeface="Tahoma"/>
                <a:cs typeface="Tahoma"/>
              </a:rPr>
              <a:t>is</a:t>
            </a:r>
            <a:r>
              <a:rPr dirty="0" sz="120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334155"/>
                </a:solidFill>
                <a:latin typeface="Tahoma"/>
                <a:cs typeface="Tahoma"/>
              </a:rPr>
              <a:t>solved.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186237" y="1519237"/>
            <a:ext cx="7439025" cy="1152525"/>
            <a:chOff x="4186237" y="1519237"/>
            <a:chExt cx="7439025" cy="1152525"/>
          </a:xfrm>
        </p:grpSpPr>
        <p:sp>
          <p:nvSpPr>
            <p:cNvPr id="12" name="object 12"/>
            <p:cNvSpPr/>
            <p:nvPr/>
          </p:nvSpPr>
          <p:spPr>
            <a:xfrm>
              <a:off x="4191000" y="1524000"/>
              <a:ext cx="7429500" cy="1143000"/>
            </a:xfrm>
            <a:custGeom>
              <a:avLst/>
              <a:gdLst/>
              <a:ahLst/>
              <a:cxnLst/>
              <a:rect l="l" t="t" r="r" b="b"/>
              <a:pathLst>
                <a:path w="7429500" h="1143000">
                  <a:moveTo>
                    <a:pt x="7334253" y="1142999"/>
                  </a:moveTo>
                  <a:lnTo>
                    <a:pt x="95245" y="1142999"/>
                  </a:lnTo>
                  <a:lnTo>
                    <a:pt x="58172" y="1135515"/>
                  </a:lnTo>
                  <a:lnTo>
                    <a:pt x="27896" y="1115103"/>
                  </a:lnTo>
                  <a:lnTo>
                    <a:pt x="7484" y="1084827"/>
                  </a:lnTo>
                  <a:lnTo>
                    <a:pt x="0" y="1047753"/>
                  </a:lnTo>
                  <a:lnTo>
                    <a:pt x="0" y="95246"/>
                  </a:lnTo>
                  <a:lnTo>
                    <a:pt x="7484" y="58172"/>
                  </a:lnTo>
                  <a:lnTo>
                    <a:pt x="27896" y="27896"/>
                  </a:lnTo>
                  <a:lnTo>
                    <a:pt x="58172" y="7484"/>
                  </a:lnTo>
                  <a:lnTo>
                    <a:pt x="95245" y="0"/>
                  </a:lnTo>
                  <a:lnTo>
                    <a:pt x="7334253" y="0"/>
                  </a:lnTo>
                  <a:lnTo>
                    <a:pt x="7387096" y="16002"/>
                  </a:lnTo>
                  <a:lnTo>
                    <a:pt x="7422249" y="58797"/>
                  </a:lnTo>
                  <a:lnTo>
                    <a:pt x="7429499" y="95246"/>
                  </a:lnTo>
                  <a:lnTo>
                    <a:pt x="7429499" y="1047753"/>
                  </a:lnTo>
                  <a:lnTo>
                    <a:pt x="7422015" y="1084827"/>
                  </a:lnTo>
                  <a:lnTo>
                    <a:pt x="7401603" y="1115103"/>
                  </a:lnTo>
                  <a:lnTo>
                    <a:pt x="7371328" y="1135515"/>
                  </a:lnTo>
                  <a:lnTo>
                    <a:pt x="7334253" y="114299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191000" y="1524000"/>
              <a:ext cx="7429500" cy="1143000"/>
            </a:xfrm>
            <a:custGeom>
              <a:avLst/>
              <a:gdLst/>
              <a:ahLst/>
              <a:cxnLst/>
              <a:rect l="l" t="t" r="r" b="b"/>
              <a:pathLst>
                <a:path w="7429500" h="1143000">
                  <a:moveTo>
                    <a:pt x="0" y="95246"/>
                  </a:moveTo>
                  <a:lnTo>
                    <a:pt x="7484" y="58172"/>
                  </a:lnTo>
                  <a:lnTo>
                    <a:pt x="27896" y="27896"/>
                  </a:lnTo>
                  <a:lnTo>
                    <a:pt x="58172" y="7484"/>
                  </a:lnTo>
                  <a:lnTo>
                    <a:pt x="95245" y="0"/>
                  </a:lnTo>
                  <a:lnTo>
                    <a:pt x="7334253" y="0"/>
                  </a:lnTo>
                  <a:lnTo>
                    <a:pt x="7387096" y="16002"/>
                  </a:lnTo>
                  <a:lnTo>
                    <a:pt x="7422249" y="58797"/>
                  </a:lnTo>
                  <a:lnTo>
                    <a:pt x="7429499" y="95246"/>
                  </a:lnTo>
                  <a:lnTo>
                    <a:pt x="7429499" y="1047753"/>
                  </a:lnTo>
                  <a:lnTo>
                    <a:pt x="7422015" y="1084827"/>
                  </a:lnTo>
                  <a:lnTo>
                    <a:pt x="7401603" y="1115103"/>
                  </a:lnTo>
                  <a:lnTo>
                    <a:pt x="7371328" y="1135515"/>
                  </a:lnTo>
                  <a:lnTo>
                    <a:pt x="7334253" y="1142999"/>
                  </a:lnTo>
                  <a:lnTo>
                    <a:pt x="95245" y="1142999"/>
                  </a:lnTo>
                  <a:lnTo>
                    <a:pt x="58172" y="1135515"/>
                  </a:lnTo>
                  <a:lnTo>
                    <a:pt x="27896" y="1115103"/>
                  </a:lnTo>
                  <a:lnTo>
                    <a:pt x="7484" y="1084827"/>
                  </a:lnTo>
                  <a:lnTo>
                    <a:pt x="0" y="1047753"/>
                  </a:lnTo>
                  <a:lnTo>
                    <a:pt x="0" y="95246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8299" y="1949842"/>
              <a:ext cx="342900" cy="27305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987925" y="1885263"/>
            <a:ext cx="5135880" cy="404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dirty="0" sz="1400" spc="-125" b="1">
                <a:solidFill>
                  <a:srgbClr val="003366"/>
                </a:solidFill>
                <a:latin typeface="Tahoma"/>
                <a:cs typeface="Tahoma"/>
              </a:rPr>
              <a:t>Immediate</a:t>
            </a:r>
            <a:r>
              <a:rPr dirty="0" sz="1400" spc="-70" b="1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003366"/>
                </a:solidFill>
                <a:latin typeface="Tahoma"/>
                <a:cs typeface="Tahoma"/>
              </a:rPr>
              <a:t>Backtrack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310"/>
              </a:lnSpc>
            </a:pPr>
            <a:r>
              <a:rPr dirty="0" sz="1100" spc="-40">
                <a:solidFill>
                  <a:srgbClr val="334155"/>
                </a:solidFill>
                <a:latin typeface="Tahoma"/>
                <a:cs typeface="Tahoma"/>
              </a:rPr>
              <a:t>If</a:t>
            </a:r>
            <a:r>
              <a:rPr dirty="0" sz="110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334155"/>
                </a:solidFill>
                <a:latin typeface="Tahoma"/>
                <a:cs typeface="Tahoma"/>
              </a:rPr>
              <a:t>a</a:t>
            </a:r>
            <a:r>
              <a:rPr dirty="0" sz="1100" spc="-9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cell</a:t>
            </a:r>
            <a:r>
              <a:rPr dirty="0" sz="110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334155"/>
                </a:solidFill>
                <a:latin typeface="Tahoma"/>
                <a:cs typeface="Tahoma"/>
              </a:rPr>
              <a:t>has</a:t>
            </a:r>
            <a:r>
              <a:rPr dirty="0" sz="1100" spc="-9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0</a:t>
            </a:r>
            <a:r>
              <a:rPr dirty="0" sz="110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34155"/>
                </a:solidFill>
                <a:latin typeface="Tahoma"/>
                <a:cs typeface="Tahoma"/>
              </a:rPr>
              <a:t>options,</a:t>
            </a:r>
            <a:r>
              <a:rPr dirty="0" sz="1100" spc="-9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the</a:t>
            </a:r>
            <a:r>
              <a:rPr dirty="0" sz="110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34155"/>
                </a:solidFill>
                <a:latin typeface="Tahoma"/>
                <a:cs typeface="Tahoma"/>
              </a:rPr>
              <a:t>agent</a:t>
            </a:r>
            <a:r>
              <a:rPr dirty="0" sz="1100" spc="-9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returns</a:t>
            </a:r>
            <a:r>
              <a:rPr dirty="0" sz="110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334155"/>
                </a:solidFill>
                <a:latin typeface="Tahoma"/>
                <a:cs typeface="Tahoma"/>
              </a:rPr>
              <a:t>immediately,</a:t>
            </a:r>
            <a:r>
              <a:rPr dirty="0" sz="1100" spc="-9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334155"/>
                </a:solidFill>
                <a:latin typeface="Tahoma"/>
                <a:cs typeface="Tahoma"/>
              </a:rPr>
              <a:t>saving</a:t>
            </a:r>
            <a:r>
              <a:rPr dirty="0" sz="110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34155"/>
                </a:solidFill>
                <a:latin typeface="Tahoma"/>
                <a:cs typeface="Tahoma"/>
              </a:rPr>
              <a:t>massive</a:t>
            </a:r>
            <a:r>
              <a:rPr dirty="0" sz="1100" spc="-9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processing</a:t>
            </a:r>
            <a:r>
              <a:rPr dirty="0" sz="1100" spc="-9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34155"/>
                </a:solidFill>
                <a:latin typeface="Tahoma"/>
                <a:cs typeface="Tahoma"/>
              </a:rPr>
              <a:t>time.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86237" y="2852737"/>
            <a:ext cx="7439025" cy="1152525"/>
            <a:chOff x="4186237" y="2852737"/>
            <a:chExt cx="7439025" cy="1152525"/>
          </a:xfrm>
        </p:grpSpPr>
        <p:sp>
          <p:nvSpPr>
            <p:cNvPr id="17" name="object 17"/>
            <p:cNvSpPr/>
            <p:nvPr/>
          </p:nvSpPr>
          <p:spPr>
            <a:xfrm>
              <a:off x="4191000" y="2857500"/>
              <a:ext cx="7429500" cy="1143000"/>
            </a:xfrm>
            <a:custGeom>
              <a:avLst/>
              <a:gdLst/>
              <a:ahLst/>
              <a:cxnLst/>
              <a:rect l="l" t="t" r="r" b="b"/>
              <a:pathLst>
                <a:path w="7429500" h="1143000">
                  <a:moveTo>
                    <a:pt x="7334253" y="1142999"/>
                  </a:moveTo>
                  <a:lnTo>
                    <a:pt x="95245" y="1142999"/>
                  </a:lnTo>
                  <a:lnTo>
                    <a:pt x="58172" y="1135515"/>
                  </a:lnTo>
                  <a:lnTo>
                    <a:pt x="27896" y="1115103"/>
                  </a:lnTo>
                  <a:lnTo>
                    <a:pt x="7484" y="1084827"/>
                  </a:lnTo>
                  <a:lnTo>
                    <a:pt x="0" y="1047753"/>
                  </a:lnTo>
                  <a:lnTo>
                    <a:pt x="0" y="95245"/>
                  </a:lnTo>
                  <a:lnTo>
                    <a:pt x="7484" y="58172"/>
                  </a:lnTo>
                  <a:lnTo>
                    <a:pt x="27896" y="27896"/>
                  </a:lnTo>
                  <a:lnTo>
                    <a:pt x="58172" y="7484"/>
                  </a:lnTo>
                  <a:lnTo>
                    <a:pt x="95245" y="0"/>
                  </a:lnTo>
                  <a:lnTo>
                    <a:pt x="7334253" y="0"/>
                  </a:lnTo>
                  <a:lnTo>
                    <a:pt x="7387096" y="16002"/>
                  </a:lnTo>
                  <a:lnTo>
                    <a:pt x="7422249" y="58797"/>
                  </a:lnTo>
                  <a:lnTo>
                    <a:pt x="7429499" y="95245"/>
                  </a:lnTo>
                  <a:lnTo>
                    <a:pt x="7429499" y="1047753"/>
                  </a:lnTo>
                  <a:lnTo>
                    <a:pt x="7422015" y="1084827"/>
                  </a:lnTo>
                  <a:lnTo>
                    <a:pt x="7401603" y="1115103"/>
                  </a:lnTo>
                  <a:lnTo>
                    <a:pt x="7371328" y="1135515"/>
                  </a:lnTo>
                  <a:lnTo>
                    <a:pt x="7334253" y="1142999"/>
                  </a:lnTo>
                  <a:close/>
                </a:path>
              </a:pathLst>
            </a:custGeom>
            <a:solidFill>
              <a:srgbClr val="FFFA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191000" y="2857500"/>
              <a:ext cx="7429500" cy="1143000"/>
            </a:xfrm>
            <a:custGeom>
              <a:avLst/>
              <a:gdLst/>
              <a:ahLst/>
              <a:cxnLst/>
              <a:rect l="l" t="t" r="r" b="b"/>
              <a:pathLst>
                <a:path w="7429500" h="1143000">
                  <a:moveTo>
                    <a:pt x="0" y="95245"/>
                  </a:moveTo>
                  <a:lnTo>
                    <a:pt x="7484" y="58172"/>
                  </a:lnTo>
                  <a:lnTo>
                    <a:pt x="27896" y="27896"/>
                  </a:lnTo>
                  <a:lnTo>
                    <a:pt x="58172" y="7484"/>
                  </a:lnTo>
                  <a:lnTo>
                    <a:pt x="95245" y="0"/>
                  </a:lnTo>
                  <a:lnTo>
                    <a:pt x="7334253" y="0"/>
                  </a:lnTo>
                  <a:lnTo>
                    <a:pt x="7387096" y="16002"/>
                  </a:lnTo>
                  <a:lnTo>
                    <a:pt x="7422249" y="58797"/>
                  </a:lnTo>
                  <a:lnTo>
                    <a:pt x="7429499" y="95245"/>
                  </a:lnTo>
                  <a:lnTo>
                    <a:pt x="7429499" y="1047753"/>
                  </a:lnTo>
                  <a:lnTo>
                    <a:pt x="7422015" y="1084827"/>
                  </a:lnTo>
                  <a:lnTo>
                    <a:pt x="7401603" y="1115103"/>
                  </a:lnTo>
                  <a:lnTo>
                    <a:pt x="7371328" y="1135515"/>
                  </a:lnTo>
                  <a:lnTo>
                    <a:pt x="7334253" y="1142999"/>
                  </a:lnTo>
                  <a:lnTo>
                    <a:pt x="95245" y="1142999"/>
                  </a:lnTo>
                  <a:lnTo>
                    <a:pt x="58172" y="1135515"/>
                  </a:lnTo>
                  <a:lnTo>
                    <a:pt x="27896" y="1115103"/>
                  </a:lnTo>
                  <a:lnTo>
                    <a:pt x="7484" y="1084827"/>
                  </a:lnTo>
                  <a:lnTo>
                    <a:pt x="0" y="1047753"/>
                  </a:lnTo>
                  <a:lnTo>
                    <a:pt x="0" y="95245"/>
                  </a:lnTo>
                  <a:close/>
                </a:path>
              </a:pathLst>
            </a:custGeom>
            <a:ln w="9524">
              <a:solidFill>
                <a:srgbClr val="FDF3C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0849" y="3267467"/>
              <a:ext cx="177800" cy="3048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987925" y="3218763"/>
            <a:ext cx="4931410" cy="404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dirty="0" sz="1400" spc="-125" b="1">
                <a:solidFill>
                  <a:srgbClr val="003366"/>
                </a:solidFill>
                <a:latin typeface="Tahoma"/>
                <a:cs typeface="Tahoma"/>
              </a:rPr>
              <a:t>Immediate</a:t>
            </a:r>
            <a:r>
              <a:rPr dirty="0" sz="1400" spc="-70" b="1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003366"/>
                </a:solidFill>
                <a:latin typeface="Tahoma"/>
                <a:cs typeface="Tahoma"/>
              </a:rPr>
              <a:t>Assignment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310"/>
              </a:lnSpc>
            </a:pPr>
            <a:r>
              <a:rPr dirty="0" sz="1100" spc="-40">
                <a:solidFill>
                  <a:srgbClr val="334155"/>
                </a:solidFill>
                <a:latin typeface="Tahoma"/>
                <a:cs typeface="Tahoma"/>
              </a:rPr>
              <a:t>If</a:t>
            </a:r>
            <a:r>
              <a:rPr dirty="0" sz="1100" spc="-10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334155"/>
                </a:solidFill>
                <a:latin typeface="Tahoma"/>
                <a:cs typeface="Tahoma"/>
              </a:rPr>
              <a:t>a</a:t>
            </a:r>
            <a:r>
              <a:rPr dirty="0" sz="110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cell</a:t>
            </a:r>
            <a:r>
              <a:rPr dirty="0" sz="110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334155"/>
                </a:solidFill>
                <a:latin typeface="Tahoma"/>
                <a:cs typeface="Tahoma"/>
              </a:rPr>
              <a:t>has</a:t>
            </a:r>
            <a:r>
              <a:rPr dirty="0" sz="1100" spc="-10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exactly</a:t>
            </a:r>
            <a:r>
              <a:rPr dirty="0" sz="110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1</a:t>
            </a:r>
            <a:r>
              <a:rPr dirty="0" sz="110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34155"/>
                </a:solidFill>
                <a:latin typeface="Tahoma"/>
                <a:cs typeface="Tahoma"/>
              </a:rPr>
              <a:t>option,</a:t>
            </a:r>
            <a:r>
              <a:rPr dirty="0" sz="1100" spc="-10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it</a:t>
            </a:r>
            <a:r>
              <a:rPr dirty="0" sz="110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is</a:t>
            </a:r>
            <a:r>
              <a:rPr dirty="0" sz="110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selected</a:t>
            </a:r>
            <a:r>
              <a:rPr dirty="0" sz="110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34155"/>
                </a:solidFill>
                <a:latin typeface="Tahoma"/>
                <a:cs typeface="Tahoma"/>
              </a:rPr>
              <a:t>instantly,</a:t>
            </a:r>
            <a:r>
              <a:rPr dirty="0" sz="1100" spc="-10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skipping</a:t>
            </a:r>
            <a:r>
              <a:rPr dirty="0" sz="110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further</a:t>
            </a:r>
            <a:r>
              <a:rPr dirty="0" sz="110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board</a:t>
            </a:r>
            <a:r>
              <a:rPr dirty="0" sz="1100" spc="-10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34155"/>
                </a:solidFill>
                <a:latin typeface="Tahoma"/>
                <a:cs typeface="Tahoma"/>
              </a:rPr>
              <a:t>checks.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186237" y="4186237"/>
            <a:ext cx="7439025" cy="1152525"/>
            <a:chOff x="4186237" y="4186237"/>
            <a:chExt cx="7439025" cy="1152525"/>
          </a:xfrm>
        </p:grpSpPr>
        <p:sp>
          <p:nvSpPr>
            <p:cNvPr id="22" name="object 22"/>
            <p:cNvSpPr/>
            <p:nvPr/>
          </p:nvSpPr>
          <p:spPr>
            <a:xfrm>
              <a:off x="4191000" y="4191000"/>
              <a:ext cx="7429500" cy="1143000"/>
            </a:xfrm>
            <a:custGeom>
              <a:avLst/>
              <a:gdLst/>
              <a:ahLst/>
              <a:cxnLst/>
              <a:rect l="l" t="t" r="r" b="b"/>
              <a:pathLst>
                <a:path w="7429500" h="1143000">
                  <a:moveTo>
                    <a:pt x="7334253" y="1142999"/>
                  </a:moveTo>
                  <a:lnTo>
                    <a:pt x="95245" y="1142999"/>
                  </a:lnTo>
                  <a:lnTo>
                    <a:pt x="58172" y="1135515"/>
                  </a:lnTo>
                  <a:lnTo>
                    <a:pt x="27896" y="1115103"/>
                  </a:lnTo>
                  <a:lnTo>
                    <a:pt x="7484" y="1084827"/>
                  </a:lnTo>
                  <a:lnTo>
                    <a:pt x="0" y="1047753"/>
                  </a:lnTo>
                  <a:lnTo>
                    <a:pt x="0" y="95245"/>
                  </a:lnTo>
                  <a:lnTo>
                    <a:pt x="7484" y="58172"/>
                  </a:lnTo>
                  <a:lnTo>
                    <a:pt x="27896" y="27896"/>
                  </a:lnTo>
                  <a:lnTo>
                    <a:pt x="58172" y="7484"/>
                  </a:lnTo>
                  <a:lnTo>
                    <a:pt x="95245" y="0"/>
                  </a:lnTo>
                  <a:lnTo>
                    <a:pt x="7334253" y="0"/>
                  </a:lnTo>
                  <a:lnTo>
                    <a:pt x="7387096" y="16002"/>
                  </a:lnTo>
                  <a:lnTo>
                    <a:pt x="7422249" y="58796"/>
                  </a:lnTo>
                  <a:lnTo>
                    <a:pt x="7429499" y="95245"/>
                  </a:lnTo>
                  <a:lnTo>
                    <a:pt x="7429499" y="1047753"/>
                  </a:lnTo>
                  <a:lnTo>
                    <a:pt x="7422015" y="1084827"/>
                  </a:lnTo>
                  <a:lnTo>
                    <a:pt x="7401603" y="1115103"/>
                  </a:lnTo>
                  <a:lnTo>
                    <a:pt x="7371328" y="1135515"/>
                  </a:lnTo>
                  <a:lnTo>
                    <a:pt x="7334253" y="114299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191000" y="4191000"/>
              <a:ext cx="7429500" cy="1143000"/>
            </a:xfrm>
            <a:custGeom>
              <a:avLst/>
              <a:gdLst/>
              <a:ahLst/>
              <a:cxnLst/>
              <a:rect l="l" t="t" r="r" b="b"/>
              <a:pathLst>
                <a:path w="7429500" h="1143000">
                  <a:moveTo>
                    <a:pt x="0" y="95245"/>
                  </a:moveTo>
                  <a:lnTo>
                    <a:pt x="7484" y="58172"/>
                  </a:lnTo>
                  <a:lnTo>
                    <a:pt x="27896" y="27896"/>
                  </a:lnTo>
                  <a:lnTo>
                    <a:pt x="58172" y="7484"/>
                  </a:lnTo>
                  <a:lnTo>
                    <a:pt x="95245" y="0"/>
                  </a:lnTo>
                  <a:lnTo>
                    <a:pt x="7334253" y="0"/>
                  </a:lnTo>
                  <a:lnTo>
                    <a:pt x="7387096" y="16002"/>
                  </a:lnTo>
                  <a:lnTo>
                    <a:pt x="7422249" y="58796"/>
                  </a:lnTo>
                  <a:lnTo>
                    <a:pt x="7429499" y="95245"/>
                  </a:lnTo>
                  <a:lnTo>
                    <a:pt x="7429499" y="1047753"/>
                  </a:lnTo>
                  <a:lnTo>
                    <a:pt x="7422015" y="1084827"/>
                  </a:lnTo>
                  <a:lnTo>
                    <a:pt x="7401603" y="1115103"/>
                  </a:lnTo>
                  <a:lnTo>
                    <a:pt x="7371328" y="1135515"/>
                  </a:lnTo>
                  <a:lnTo>
                    <a:pt x="7334253" y="1142999"/>
                  </a:lnTo>
                  <a:lnTo>
                    <a:pt x="95245" y="1142999"/>
                  </a:lnTo>
                  <a:lnTo>
                    <a:pt x="58172" y="1135515"/>
                  </a:lnTo>
                  <a:lnTo>
                    <a:pt x="27896" y="1115103"/>
                  </a:lnTo>
                  <a:lnTo>
                    <a:pt x="7484" y="1084827"/>
                  </a:lnTo>
                  <a:lnTo>
                    <a:pt x="0" y="1047753"/>
                  </a:lnTo>
                  <a:lnTo>
                    <a:pt x="0" y="95245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67349" y="4651767"/>
              <a:ext cx="304800" cy="2032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987925" y="4552263"/>
            <a:ext cx="5231765" cy="404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dirty="0" sz="1400" spc="-75" b="1">
                <a:solidFill>
                  <a:srgbClr val="003366"/>
                </a:solidFill>
                <a:latin typeface="Tahoma"/>
                <a:cs typeface="Tahoma"/>
              </a:rPr>
              <a:t>Default</a:t>
            </a:r>
            <a:r>
              <a:rPr dirty="0" sz="1400" spc="-85" b="1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003366"/>
                </a:solidFill>
                <a:latin typeface="Tahoma"/>
                <a:cs typeface="Tahoma"/>
              </a:rPr>
              <a:t>Action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310"/>
              </a:lnSpc>
            </a:pPr>
            <a:r>
              <a:rPr dirty="0" sz="1100" spc="-40">
                <a:solidFill>
                  <a:srgbClr val="334155"/>
                </a:solidFill>
                <a:latin typeface="Tahoma"/>
                <a:cs typeface="Tahoma"/>
              </a:rPr>
              <a:t>If</a:t>
            </a:r>
            <a:r>
              <a:rPr dirty="0" sz="1100" spc="-9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neither</a:t>
            </a:r>
            <a:r>
              <a:rPr dirty="0" sz="1100" spc="-8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extreme</a:t>
            </a:r>
            <a:r>
              <a:rPr dirty="0" sz="1100" spc="-8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is</a:t>
            </a:r>
            <a:r>
              <a:rPr dirty="0" sz="1100" spc="-9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334155"/>
                </a:solidFill>
                <a:latin typeface="Tahoma"/>
                <a:cs typeface="Tahoma"/>
              </a:rPr>
              <a:t>found,</a:t>
            </a:r>
            <a:r>
              <a:rPr dirty="0" sz="1100" spc="-8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the</a:t>
            </a:r>
            <a:r>
              <a:rPr dirty="0" sz="1100" spc="-8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34155"/>
                </a:solidFill>
                <a:latin typeface="Tahoma"/>
                <a:cs typeface="Tahoma"/>
              </a:rPr>
              <a:t>agent</a:t>
            </a:r>
            <a:r>
              <a:rPr dirty="0" sz="1100" spc="-9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selects</a:t>
            </a:r>
            <a:r>
              <a:rPr dirty="0" sz="1100" spc="-8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the</a:t>
            </a:r>
            <a:r>
              <a:rPr dirty="0" sz="1100" spc="-8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cell</a:t>
            </a:r>
            <a:r>
              <a:rPr dirty="0" sz="1100" spc="-9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with</a:t>
            </a:r>
            <a:r>
              <a:rPr dirty="0" sz="1100" spc="-8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the</a:t>
            </a:r>
            <a:r>
              <a:rPr dirty="0" sz="1100" spc="-8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fewest</a:t>
            </a:r>
            <a:r>
              <a:rPr dirty="0" sz="1100" spc="-9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334155"/>
                </a:solidFill>
                <a:latin typeface="Tahoma"/>
                <a:cs typeface="Tahoma"/>
              </a:rPr>
              <a:t>available</a:t>
            </a:r>
            <a:r>
              <a:rPr dirty="0" sz="1100" spc="-8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334155"/>
                </a:solidFill>
                <a:latin typeface="Tahoma"/>
                <a:cs typeface="Tahoma"/>
              </a:rPr>
              <a:t>options.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04"/>
              <a:t>Execution</a:t>
            </a:r>
            <a:r>
              <a:rPr dirty="0" sz="3600" spc="-380"/>
              <a:t> </a:t>
            </a:r>
            <a:r>
              <a:rPr dirty="0" sz="3600" spc="-85"/>
              <a:t>Workflow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571500" y="1266825"/>
            <a:ext cx="11049000" cy="28575"/>
          </a:xfrm>
          <a:custGeom>
            <a:avLst/>
            <a:gdLst/>
            <a:ahLst/>
            <a:cxnLst/>
            <a:rect l="l" t="t" r="r" b="b"/>
            <a:pathLst>
              <a:path w="11049000" h="28575">
                <a:moveTo>
                  <a:pt x="11048999" y="28499"/>
                </a:moveTo>
                <a:lnTo>
                  <a:pt x="0" y="284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28499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566737" y="2090737"/>
            <a:ext cx="2628900" cy="2105025"/>
            <a:chOff x="566737" y="2090737"/>
            <a:chExt cx="2628900" cy="2105025"/>
          </a:xfrm>
        </p:grpSpPr>
        <p:sp>
          <p:nvSpPr>
            <p:cNvPr id="6" name="object 6"/>
            <p:cNvSpPr/>
            <p:nvPr/>
          </p:nvSpPr>
          <p:spPr>
            <a:xfrm>
              <a:off x="571500" y="2095500"/>
              <a:ext cx="2619375" cy="2095500"/>
            </a:xfrm>
            <a:custGeom>
              <a:avLst/>
              <a:gdLst/>
              <a:ahLst/>
              <a:cxnLst/>
              <a:rect l="l" t="t" r="r" b="b"/>
              <a:pathLst>
                <a:path w="2619375" h="2095500">
                  <a:moveTo>
                    <a:pt x="2476428" y="2095499"/>
                  </a:moveTo>
                  <a:lnTo>
                    <a:pt x="142871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1" y="0"/>
                  </a:lnTo>
                  <a:lnTo>
                    <a:pt x="2476428" y="0"/>
                  </a:lnTo>
                  <a:lnTo>
                    <a:pt x="2531103" y="10875"/>
                  </a:lnTo>
                  <a:lnTo>
                    <a:pt x="2577453" y="41845"/>
                  </a:lnTo>
                  <a:lnTo>
                    <a:pt x="2608424" y="88196"/>
                  </a:lnTo>
                  <a:lnTo>
                    <a:pt x="2619299" y="142870"/>
                  </a:lnTo>
                  <a:lnTo>
                    <a:pt x="2619299" y="1952628"/>
                  </a:lnTo>
                  <a:lnTo>
                    <a:pt x="2612016" y="1997787"/>
                  </a:lnTo>
                  <a:lnTo>
                    <a:pt x="2591734" y="2037006"/>
                  </a:lnTo>
                  <a:lnTo>
                    <a:pt x="2560806" y="2067934"/>
                  </a:lnTo>
                  <a:lnTo>
                    <a:pt x="2521587" y="2088216"/>
                  </a:lnTo>
                  <a:lnTo>
                    <a:pt x="24764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71500" y="2095500"/>
              <a:ext cx="2619375" cy="2095500"/>
            </a:xfrm>
            <a:custGeom>
              <a:avLst/>
              <a:gdLst/>
              <a:ahLst/>
              <a:cxnLst/>
              <a:rect l="l" t="t" r="r" b="b"/>
              <a:pathLst>
                <a:path w="2619375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1" y="0"/>
                  </a:lnTo>
                  <a:lnTo>
                    <a:pt x="2476428" y="0"/>
                  </a:lnTo>
                  <a:lnTo>
                    <a:pt x="2531103" y="10875"/>
                  </a:lnTo>
                  <a:lnTo>
                    <a:pt x="2577453" y="41845"/>
                  </a:lnTo>
                  <a:lnTo>
                    <a:pt x="2608424" y="88196"/>
                  </a:lnTo>
                  <a:lnTo>
                    <a:pt x="2619299" y="142870"/>
                  </a:lnTo>
                  <a:lnTo>
                    <a:pt x="2619299" y="1952628"/>
                  </a:lnTo>
                  <a:lnTo>
                    <a:pt x="2612016" y="1997787"/>
                  </a:lnTo>
                  <a:lnTo>
                    <a:pt x="2591734" y="2037006"/>
                  </a:lnTo>
                  <a:lnTo>
                    <a:pt x="2560806" y="2067934"/>
                  </a:lnTo>
                  <a:lnTo>
                    <a:pt x="2521587" y="2088216"/>
                  </a:lnTo>
                  <a:lnTo>
                    <a:pt x="2476428" y="2095499"/>
                  </a:lnTo>
                  <a:lnTo>
                    <a:pt x="142871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1450" y="2586799"/>
              <a:ext cx="288925" cy="40005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25435" y="3173793"/>
            <a:ext cx="2113280" cy="568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03366"/>
                </a:solidFill>
                <a:latin typeface="Arial Black"/>
                <a:cs typeface="Arial Black"/>
              </a:rPr>
              <a:t>Select</a:t>
            </a:r>
            <a:endParaRPr sz="1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dirty="0" sz="1100">
                <a:solidFill>
                  <a:srgbClr val="64738B"/>
                </a:solidFill>
                <a:latin typeface="Tahoma"/>
                <a:cs typeface="Tahoma"/>
              </a:rPr>
              <a:t>Find</a:t>
            </a:r>
            <a:r>
              <a:rPr dirty="0" sz="1100" spc="-1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64738B"/>
                </a:solidFill>
                <a:latin typeface="Tahoma"/>
                <a:cs typeface="Tahoma"/>
              </a:rPr>
              <a:t>empty</a:t>
            </a:r>
            <a:r>
              <a:rPr dirty="0" sz="1100" spc="-9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64738B"/>
                </a:solidFill>
                <a:latin typeface="Tahoma"/>
                <a:cs typeface="Tahoma"/>
              </a:rPr>
              <a:t>cell</a:t>
            </a:r>
            <a:r>
              <a:rPr dirty="0" sz="1100" spc="-9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64738B"/>
                </a:solidFill>
                <a:latin typeface="Tahoma"/>
                <a:cs typeface="Tahoma"/>
              </a:rPr>
              <a:t>via</a:t>
            </a:r>
            <a:r>
              <a:rPr dirty="0" sz="1100" spc="-1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100" spc="85">
                <a:solidFill>
                  <a:srgbClr val="64738B"/>
                </a:solidFill>
                <a:latin typeface="Tahoma"/>
                <a:cs typeface="Tahoma"/>
              </a:rPr>
              <a:t>MRV</a:t>
            </a:r>
            <a:r>
              <a:rPr dirty="0" sz="1100" spc="-9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64738B"/>
                </a:solidFill>
                <a:latin typeface="Tahoma"/>
                <a:cs typeface="Tahoma"/>
              </a:rPr>
              <a:t>Heuristic.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271837" y="3033712"/>
            <a:ext cx="414655" cy="219075"/>
            <a:chOff x="3271837" y="3033712"/>
            <a:chExt cx="414655" cy="21907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71837" y="3128962"/>
              <a:ext cx="409499" cy="284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57587" y="3033712"/>
              <a:ext cx="128699" cy="21899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757612" y="2090737"/>
            <a:ext cx="2343785" cy="2105025"/>
            <a:chOff x="3757612" y="2090737"/>
            <a:chExt cx="2343785" cy="2105025"/>
          </a:xfrm>
        </p:grpSpPr>
        <p:sp>
          <p:nvSpPr>
            <p:cNvPr id="14" name="object 14"/>
            <p:cNvSpPr/>
            <p:nvPr/>
          </p:nvSpPr>
          <p:spPr>
            <a:xfrm>
              <a:off x="3762375" y="2095500"/>
              <a:ext cx="2334260" cy="2095500"/>
            </a:xfrm>
            <a:custGeom>
              <a:avLst/>
              <a:gdLst/>
              <a:ahLst/>
              <a:cxnLst/>
              <a:rect l="l" t="t" r="r" b="b"/>
              <a:pathLst>
                <a:path w="2334260" h="2095500">
                  <a:moveTo>
                    <a:pt x="2190828" y="2095499"/>
                  </a:move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190828" y="0"/>
                  </a:lnTo>
                  <a:lnTo>
                    <a:pt x="2245503" y="10875"/>
                  </a:lnTo>
                  <a:lnTo>
                    <a:pt x="2291853" y="41845"/>
                  </a:lnTo>
                  <a:lnTo>
                    <a:pt x="2322824" y="88196"/>
                  </a:lnTo>
                  <a:lnTo>
                    <a:pt x="2333699" y="142870"/>
                  </a:lnTo>
                  <a:lnTo>
                    <a:pt x="2333699" y="1952628"/>
                  </a:lnTo>
                  <a:lnTo>
                    <a:pt x="2326416" y="1997787"/>
                  </a:lnTo>
                  <a:lnTo>
                    <a:pt x="2306134" y="2037006"/>
                  </a:lnTo>
                  <a:lnTo>
                    <a:pt x="2275206" y="2067934"/>
                  </a:lnTo>
                  <a:lnTo>
                    <a:pt x="2235987" y="2088216"/>
                  </a:lnTo>
                  <a:lnTo>
                    <a:pt x="21908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762375" y="2095500"/>
              <a:ext cx="2334260" cy="2095500"/>
            </a:xfrm>
            <a:custGeom>
              <a:avLst/>
              <a:gdLst/>
              <a:ahLst/>
              <a:cxnLst/>
              <a:rect l="l" t="t" r="r" b="b"/>
              <a:pathLst>
                <a:path w="2334260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190828" y="0"/>
                  </a:lnTo>
                  <a:lnTo>
                    <a:pt x="2245503" y="10875"/>
                  </a:lnTo>
                  <a:lnTo>
                    <a:pt x="2291853" y="41845"/>
                  </a:lnTo>
                  <a:lnTo>
                    <a:pt x="2322824" y="88196"/>
                  </a:lnTo>
                  <a:lnTo>
                    <a:pt x="2333699" y="142870"/>
                  </a:lnTo>
                  <a:lnTo>
                    <a:pt x="2333699" y="1952628"/>
                  </a:lnTo>
                  <a:lnTo>
                    <a:pt x="2326416" y="1997787"/>
                  </a:lnTo>
                  <a:lnTo>
                    <a:pt x="2306134" y="2037006"/>
                  </a:lnTo>
                  <a:lnTo>
                    <a:pt x="2275206" y="2067934"/>
                  </a:lnTo>
                  <a:lnTo>
                    <a:pt x="2235987" y="2088216"/>
                  </a:lnTo>
                  <a:lnTo>
                    <a:pt x="2190828" y="2095499"/>
                  </a:ln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8725" y="2501074"/>
              <a:ext cx="381000" cy="3429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170859" y="3088068"/>
            <a:ext cx="1518285" cy="739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03366"/>
                </a:solidFill>
                <a:latin typeface="Arial Black"/>
                <a:cs typeface="Arial Black"/>
              </a:rPr>
              <a:t>Validate</a:t>
            </a:r>
            <a:endParaRPr sz="1800">
              <a:latin typeface="Arial Black"/>
              <a:cs typeface="Arial Black"/>
            </a:endParaRPr>
          </a:p>
          <a:p>
            <a:pPr algn="ctr" marL="12700" marR="5080">
              <a:lnSpc>
                <a:spcPct val="102299"/>
              </a:lnSpc>
              <a:spcBef>
                <a:spcPts val="760"/>
              </a:spcBef>
            </a:pPr>
            <a:r>
              <a:rPr dirty="0" sz="1100">
                <a:solidFill>
                  <a:srgbClr val="64738B"/>
                </a:solidFill>
                <a:latin typeface="Tahoma"/>
                <a:cs typeface="Tahoma"/>
              </a:rPr>
              <a:t>Check</a:t>
            </a:r>
            <a:r>
              <a:rPr dirty="0" sz="1100" spc="-9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64738B"/>
                </a:solidFill>
                <a:latin typeface="Tahoma"/>
                <a:cs typeface="Tahoma"/>
              </a:rPr>
              <a:t>Row,</a:t>
            </a:r>
            <a:r>
              <a:rPr dirty="0" sz="1100" spc="-9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64738B"/>
                </a:solidFill>
                <a:latin typeface="Tahoma"/>
                <a:cs typeface="Tahoma"/>
              </a:rPr>
              <a:t>Col,</a:t>
            </a:r>
            <a:r>
              <a:rPr dirty="0" sz="1100" spc="-9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dirty="0" sz="1100" spc="-9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64738B"/>
                </a:solidFill>
                <a:latin typeface="Tahoma"/>
                <a:cs typeface="Tahoma"/>
              </a:rPr>
              <a:t>Box </a:t>
            </a:r>
            <a:r>
              <a:rPr dirty="0" sz="1100" spc="-10">
                <a:solidFill>
                  <a:srgbClr val="64738B"/>
                </a:solidFill>
                <a:latin typeface="Tahoma"/>
                <a:cs typeface="Tahoma"/>
              </a:rPr>
              <a:t>constraints.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76962" y="3033712"/>
            <a:ext cx="414655" cy="219075"/>
            <a:chOff x="6176962" y="3033712"/>
            <a:chExt cx="414655" cy="21907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6962" y="3128962"/>
              <a:ext cx="409499" cy="284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62712" y="3033712"/>
              <a:ext cx="128699" cy="218999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6662737" y="2090737"/>
            <a:ext cx="2247900" cy="2105025"/>
            <a:chOff x="6662737" y="2090737"/>
            <a:chExt cx="2247900" cy="2105025"/>
          </a:xfrm>
        </p:grpSpPr>
        <p:sp>
          <p:nvSpPr>
            <p:cNvPr id="22" name="object 22"/>
            <p:cNvSpPr/>
            <p:nvPr/>
          </p:nvSpPr>
          <p:spPr>
            <a:xfrm>
              <a:off x="6667500" y="2095500"/>
              <a:ext cx="2238375" cy="2095500"/>
            </a:xfrm>
            <a:custGeom>
              <a:avLst/>
              <a:gdLst/>
              <a:ahLst/>
              <a:cxnLst/>
              <a:rect l="l" t="t" r="r" b="b"/>
              <a:pathLst>
                <a:path w="2238375" h="2095500">
                  <a:moveTo>
                    <a:pt x="2095428" y="2095499"/>
                  </a:move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95428" y="0"/>
                  </a:lnTo>
                  <a:lnTo>
                    <a:pt x="2150102" y="10875"/>
                  </a:lnTo>
                  <a:lnTo>
                    <a:pt x="2196453" y="41845"/>
                  </a:lnTo>
                  <a:lnTo>
                    <a:pt x="2227424" y="88196"/>
                  </a:lnTo>
                  <a:lnTo>
                    <a:pt x="2238299" y="142870"/>
                  </a:lnTo>
                  <a:lnTo>
                    <a:pt x="2238299" y="1952628"/>
                  </a:lnTo>
                  <a:lnTo>
                    <a:pt x="2231016" y="1997787"/>
                  </a:lnTo>
                  <a:lnTo>
                    <a:pt x="2210734" y="2037006"/>
                  </a:lnTo>
                  <a:lnTo>
                    <a:pt x="2179806" y="2067934"/>
                  </a:lnTo>
                  <a:lnTo>
                    <a:pt x="2140587" y="2088216"/>
                  </a:lnTo>
                  <a:lnTo>
                    <a:pt x="20954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667500" y="2095500"/>
              <a:ext cx="2238375" cy="2095500"/>
            </a:xfrm>
            <a:custGeom>
              <a:avLst/>
              <a:gdLst/>
              <a:ahLst/>
              <a:cxnLst/>
              <a:rect l="l" t="t" r="r" b="b"/>
              <a:pathLst>
                <a:path w="2238375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95428" y="0"/>
                  </a:lnTo>
                  <a:lnTo>
                    <a:pt x="2150102" y="10875"/>
                  </a:lnTo>
                  <a:lnTo>
                    <a:pt x="2196453" y="41845"/>
                  </a:lnTo>
                  <a:lnTo>
                    <a:pt x="2227424" y="88196"/>
                  </a:lnTo>
                  <a:lnTo>
                    <a:pt x="2238299" y="142870"/>
                  </a:lnTo>
                  <a:lnTo>
                    <a:pt x="2238299" y="1952628"/>
                  </a:lnTo>
                  <a:lnTo>
                    <a:pt x="2231016" y="1997787"/>
                  </a:lnTo>
                  <a:lnTo>
                    <a:pt x="2210734" y="2037006"/>
                  </a:lnTo>
                  <a:lnTo>
                    <a:pt x="2179806" y="2067934"/>
                  </a:lnTo>
                  <a:lnTo>
                    <a:pt x="2140587" y="2088216"/>
                  </a:lnTo>
                  <a:lnTo>
                    <a:pt x="2095428" y="2095499"/>
                  </a:ln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15200" y="2482024"/>
              <a:ext cx="384175" cy="40322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971324" y="3088068"/>
            <a:ext cx="1631950" cy="739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03366"/>
                </a:solidFill>
                <a:latin typeface="Arial Black"/>
                <a:cs typeface="Arial Black"/>
              </a:rPr>
              <a:t>Assign</a:t>
            </a:r>
            <a:endParaRPr sz="1800">
              <a:latin typeface="Arial Black"/>
              <a:cs typeface="Arial Black"/>
            </a:endParaRPr>
          </a:p>
          <a:p>
            <a:pPr algn="ctr" marL="12700" marR="5080">
              <a:lnSpc>
                <a:spcPct val="102299"/>
              </a:lnSpc>
              <a:spcBef>
                <a:spcPts val="760"/>
              </a:spcBef>
            </a:pPr>
            <a:r>
              <a:rPr dirty="0" sz="1100">
                <a:solidFill>
                  <a:srgbClr val="64738B"/>
                </a:solidFill>
                <a:latin typeface="Tahoma"/>
                <a:cs typeface="Tahoma"/>
              </a:rPr>
              <a:t>Place</a:t>
            </a:r>
            <a:r>
              <a:rPr dirty="0" sz="1100" spc="-9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64738B"/>
                </a:solidFill>
                <a:latin typeface="Tahoma"/>
                <a:cs typeface="Tahoma"/>
              </a:rPr>
              <a:t>number</a:t>
            </a:r>
            <a:r>
              <a:rPr dirty="0" sz="1100" spc="-9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64738B"/>
                </a:solidFill>
                <a:latin typeface="Tahoma"/>
                <a:cs typeface="Tahoma"/>
              </a:rPr>
              <a:t>&amp;</a:t>
            </a:r>
            <a:r>
              <a:rPr dirty="0" sz="1100" spc="-9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64738B"/>
                </a:solidFill>
                <a:latin typeface="Tahoma"/>
                <a:cs typeface="Tahoma"/>
              </a:rPr>
              <a:t>recurse</a:t>
            </a:r>
            <a:r>
              <a:rPr dirty="0" sz="1100" spc="-9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64738B"/>
                </a:solidFill>
                <a:latin typeface="Tahoma"/>
                <a:cs typeface="Tahoma"/>
              </a:rPr>
              <a:t>to </a:t>
            </a:r>
            <a:r>
              <a:rPr dirty="0" sz="1100">
                <a:solidFill>
                  <a:srgbClr val="64738B"/>
                </a:solidFill>
                <a:latin typeface="Tahoma"/>
                <a:cs typeface="Tahoma"/>
              </a:rPr>
              <a:t>solve</a:t>
            </a:r>
            <a:r>
              <a:rPr dirty="0" sz="1100" spc="-114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64738B"/>
                </a:solidFill>
                <a:latin typeface="Tahoma"/>
                <a:cs typeface="Tahoma"/>
              </a:rPr>
              <a:t>grid.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86837" y="3128962"/>
            <a:ext cx="157199" cy="28499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9472612" y="2090737"/>
            <a:ext cx="2153285" cy="2105025"/>
            <a:chOff x="9472612" y="2090737"/>
            <a:chExt cx="2153285" cy="2105025"/>
          </a:xfrm>
        </p:grpSpPr>
        <p:sp>
          <p:nvSpPr>
            <p:cNvPr id="28" name="object 28"/>
            <p:cNvSpPr/>
            <p:nvPr/>
          </p:nvSpPr>
          <p:spPr>
            <a:xfrm>
              <a:off x="9477375" y="2095500"/>
              <a:ext cx="2143760" cy="2095500"/>
            </a:xfrm>
            <a:custGeom>
              <a:avLst/>
              <a:gdLst/>
              <a:ahLst/>
              <a:cxnLst/>
              <a:rect l="l" t="t" r="r" b="b"/>
              <a:pathLst>
                <a:path w="2143759" h="2095500">
                  <a:moveTo>
                    <a:pt x="2000328" y="2095499"/>
                  </a:move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00328" y="0"/>
                  </a:lnTo>
                  <a:lnTo>
                    <a:pt x="2055002" y="10875"/>
                  </a:lnTo>
                  <a:lnTo>
                    <a:pt x="2101353" y="41845"/>
                  </a:lnTo>
                  <a:lnTo>
                    <a:pt x="2132324" y="88196"/>
                  </a:lnTo>
                  <a:lnTo>
                    <a:pt x="2143199" y="142870"/>
                  </a:lnTo>
                  <a:lnTo>
                    <a:pt x="2143199" y="1952628"/>
                  </a:lnTo>
                  <a:lnTo>
                    <a:pt x="2135916" y="1997787"/>
                  </a:lnTo>
                  <a:lnTo>
                    <a:pt x="2115634" y="2037006"/>
                  </a:lnTo>
                  <a:lnTo>
                    <a:pt x="2084706" y="2067934"/>
                  </a:lnTo>
                  <a:lnTo>
                    <a:pt x="2045487" y="2088216"/>
                  </a:lnTo>
                  <a:lnTo>
                    <a:pt x="20003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9477375" y="2095500"/>
              <a:ext cx="2143760" cy="2095500"/>
            </a:xfrm>
            <a:custGeom>
              <a:avLst/>
              <a:gdLst/>
              <a:ahLst/>
              <a:cxnLst/>
              <a:rect l="l" t="t" r="r" b="b"/>
              <a:pathLst>
                <a:path w="2143759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00328" y="0"/>
                  </a:lnTo>
                  <a:lnTo>
                    <a:pt x="2055002" y="10875"/>
                  </a:lnTo>
                  <a:lnTo>
                    <a:pt x="2101353" y="41845"/>
                  </a:lnTo>
                  <a:lnTo>
                    <a:pt x="2132324" y="88196"/>
                  </a:lnTo>
                  <a:lnTo>
                    <a:pt x="2143199" y="142870"/>
                  </a:lnTo>
                  <a:lnTo>
                    <a:pt x="2143199" y="1952628"/>
                  </a:lnTo>
                  <a:lnTo>
                    <a:pt x="2135916" y="1997787"/>
                  </a:lnTo>
                  <a:lnTo>
                    <a:pt x="2115634" y="2037006"/>
                  </a:lnTo>
                  <a:lnTo>
                    <a:pt x="2084706" y="2067934"/>
                  </a:lnTo>
                  <a:lnTo>
                    <a:pt x="2045487" y="2088216"/>
                  </a:lnTo>
                  <a:lnTo>
                    <a:pt x="2000328" y="2095499"/>
                  </a:ln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393400" y="2459799"/>
              <a:ext cx="311150" cy="384175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752079" y="3088068"/>
            <a:ext cx="1595120" cy="739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03366"/>
                </a:solidFill>
                <a:latin typeface="Arial Black"/>
                <a:cs typeface="Arial Black"/>
              </a:rPr>
              <a:t>Backtrack</a:t>
            </a:r>
            <a:endParaRPr sz="1800">
              <a:latin typeface="Arial Black"/>
              <a:cs typeface="Arial Black"/>
            </a:endParaRPr>
          </a:p>
          <a:p>
            <a:pPr algn="ctr" marL="12700" marR="5080">
              <a:lnSpc>
                <a:spcPct val="102299"/>
              </a:lnSpc>
              <a:spcBef>
                <a:spcPts val="760"/>
              </a:spcBef>
            </a:pPr>
            <a:r>
              <a:rPr dirty="0" sz="1100">
                <a:solidFill>
                  <a:srgbClr val="64738B"/>
                </a:solidFill>
                <a:latin typeface="Tahoma"/>
                <a:cs typeface="Tahoma"/>
              </a:rPr>
              <a:t>Undo</a:t>
            </a:r>
            <a:r>
              <a:rPr dirty="0" sz="1100" spc="-8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64738B"/>
                </a:solidFill>
                <a:latin typeface="Tahoma"/>
                <a:cs typeface="Tahoma"/>
              </a:rPr>
              <a:t>on</a:t>
            </a:r>
            <a:r>
              <a:rPr dirty="0" sz="1100" spc="-7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64738B"/>
                </a:solidFill>
                <a:latin typeface="Tahoma"/>
                <a:cs typeface="Tahoma"/>
              </a:rPr>
              <a:t>failure</a:t>
            </a:r>
            <a:r>
              <a:rPr dirty="0" sz="1100" spc="-8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64738B"/>
                </a:solidFill>
                <a:latin typeface="Tahoma"/>
                <a:cs typeface="Tahoma"/>
              </a:rPr>
              <a:t>&amp;</a:t>
            </a:r>
            <a:r>
              <a:rPr dirty="0" sz="1100" spc="-7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64738B"/>
                </a:solidFill>
                <a:latin typeface="Tahoma"/>
                <a:cs typeface="Tahoma"/>
              </a:rPr>
              <a:t>try</a:t>
            </a:r>
            <a:r>
              <a:rPr dirty="0" sz="1100" spc="-8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64738B"/>
                </a:solidFill>
                <a:latin typeface="Tahoma"/>
                <a:cs typeface="Tahoma"/>
              </a:rPr>
              <a:t>next </a:t>
            </a:r>
            <a:r>
              <a:rPr dirty="0" sz="1100" spc="-10">
                <a:solidFill>
                  <a:srgbClr val="64738B"/>
                </a:solidFill>
                <a:latin typeface="Tahoma"/>
                <a:cs typeface="Tahoma"/>
              </a:rPr>
              <a:t>number.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85821" y="4932596"/>
            <a:ext cx="94195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 i="1">
                <a:solidFill>
                  <a:srgbClr val="334155"/>
                </a:solidFill>
                <a:latin typeface="Trebuchet MS"/>
                <a:cs typeface="Trebuchet MS"/>
              </a:rPr>
              <a:t>This</a:t>
            </a:r>
            <a:r>
              <a:rPr dirty="0" sz="1800" spc="-150" i="1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dirty="0" sz="1800" spc="-105" i="1">
                <a:solidFill>
                  <a:srgbClr val="334155"/>
                </a:solidFill>
                <a:latin typeface="Trebuchet MS"/>
                <a:cs typeface="Trebuchet MS"/>
              </a:rPr>
              <a:t>recursive</a:t>
            </a:r>
            <a:r>
              <a:rPr dirty="0" sz="1800" spc="-150" i="1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dirty="0" sz="1800" spc="-85" i="1">
                <a:solidFill>
                  <a:srgbClr val="334155"/>
                </a:solidFill>
                <a:latin typeface="Trebuchet MS"/>
                <a:cs typeface="Trebuchet MS"/>
              </a:rPr>
              <a:t>Depth-</a:t>
            </a:r>
            <a:r>
              <a:rPr dirty="0" sz="1800" spc="-70" i="1">
                <a:solidFill>
                  <a:srgbClr val="334155"/>
                </a:solidFill>
                <a:latin typeface="Trebuchet MS"/>
                <a:cs typeface="Trebuchet MS"/>
              </a:rPr>
              <a:t>First</a:t>
            </a:r>
            <a:r>
              <a:rPr dirty="0" sz="1800" spc="-155" i="1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dirty="0" sz="1800" spc="-80" i="1">
                <a:solidFill>
                  <a:srgbClr val="334155"/>
                </a:solidFill>
                <a:latin typeface="Trebuchet MS"/>
                <a:cs typeface="Trebuchet MS"/>
              </a:rPr>
              <a:t>Search</a:t>
            </a:r>
            <a:r>
              <a:rPr dirty="0" sz="1800" spc="-150" i="1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dirty="0" sz="1800" spc="-114" i="1">
                <a:solidFill>
                  <a:srgbClr val="334155"/>
                </a:solidFill>
                <a:latin typeface="Trebuchet MS"/>
                <a:cs typeface="Trebuchet MS"/>
              </a:rPr>
              <a:t>intelligently</a:t>
            </a:r>
            <a:r>
              <a:rPr dirty="0" sz="1800" spc="-150" i="1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dirty="0" sz="1800" spc="-85" i="1">
                <a:solidFill>
                  <a:srgbClr val="334155"/>
                </a:solidFill>
                <a:latin typeface="Trebuchet MS"/>
                <a:cs typeface="Trebuchet MS"/>
              </a:rPr>
              <a:t>navigates</a:t>
            </a:r>
            <a:r>
              <a:rPr dirty="0" sz="1800" spc="-145" i="1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dirty="0" sz="1800" spc="-114" i="1">
                <a:solidFill>
                  <a:srgbClr val="334155"/>
                </a:solidFill>
                <a:latin typeface="Trebuchet MS"/>
                <a:cs typeface="Trebuchet MS"/>
              </a:rPr>
              <a:t>the</a:t>
            </a:r>
            <a:r>
              <a:rPr dirty="0" sz="1800" spc="-150" i="1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dirty="0" sz="1800" spc="-105" i="1">
                <a:solidFill>
                  <a:srgbClr val="334155"/>
                </a:solidFill>
                <a:latin typeface="Trebuchet MS"/>
                <a:cs typeface="Trebuchet MS"/>
              </a:rPr>
              <a:t>state</a:t>
            </a:r>
            <a:r>
              <a:rPr dirty="0" sz="1800" spc="-150" i="1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dirty="0" sz="1800" spc="-70" i="1">
                <a:solidFill>
                  <a:srgbClr val="334155"/>
                </a:solidFill>
                <a:latin typeface="Trebuchet MS"/>
                <a:cs typeface="Trebuchet MS"/>
              </a:rPr>
              <a:t>space</a:t>
            </a:r>
            <a:r>
              <a:rPr dirty="0" sz="1800" spc="-150" i="1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dirty="0" sz="1800" spc="-114" i="1">
                <a:solidFill>
                  <a:srgbClr val="334155"/>
                </a:solidFill>
                <a:latin typeface="Trebuchet MS"/>
                <a:cs typeface="Trebuchet MS"/>
              </a:rPr>
              <a:t>to</a:t>
            </a:r>
            <a:r>
              <a:rPr dirty="0" sz="1800" spc="-155" i="1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dirty="0" sz="1800" spc="-114" i="1">
                <a:solidFill>
                  <a:srgbClr val="334155"/>
                </a:solidFill>
                <a:latin typeface="Trebuchet MS"/>
                <a:cs typeface="Trebuchet MS"/>
              </a:rPr>
              <a:t>find</a:t>
            </a:r>
            <a:r>
              <a:rPr dirty="0" sz="1800" spc="-150" i="1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dirty="0" sz="1800" spc="-114" i="1">
                <a:solidFill>
                  <a:srgbClr val="334155"/>
                </a:solidFill>
                <a:latin typeface="Trebuchet MS"/>
                <a:cs typeface="Trebuchet MS"/>
              </a:rPr>
              <a:t>the</a:t>
            </a:r>
            <a:r>
              <a:rPr dirty="0" sz="1800" spc="-145" i="1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dirty="0" sz="1800" spc="-95" i="1">
                <a:solidFill>
                  <a:srgbClr val="334155"/>
                </a:solidFill>
                <a:latin typeface="Trebuchet MS"/>
                <a:cs typeface="Trebuchet MS"/>
              </a:rPr>
              <a:t>valid</a:t>
            </a:r>
            <a:r>
              <a:rPr dirty="0" sz="1800" spc="-150" i="1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dirty="0" sz="1800" spc="-75" i="1">
                <a:solidFill>
                  <a:srgbClr val="334155"/>
                </a:solidFill>
                <a:latin typeface="Trebuchet MS"/>
                <a:cs typeface="Trebuchet MS"/>
              </a:rPr>
              <a:t>configuration.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Performance</a:t>
            </a:r>
            <a:r>
              <a:rPr dirty="0" spc="-280"/>
              <a:t> </a:t>
            </a:r>
            <a:r>
              <a:rPr dirty="0" spc="-75"/>
              <a:t>Breakthrough</a:t>
            </a:r>
          </a:p>
        </p:txBody>
      </p:sp>
      <p:sp>
        <p:nvSpPr>
          <p:cNvPr id="3" name="object 3"/>
          <p:cNvSpPr/>
          <p:nvPr/>
        </p:nvSpPr>
        <p:spPr>
          <a:xfrm>
            <a:off x="571500" y="1266825"/>
            <a:ext cx="11049000" cy="28575"/>
          </a:xfrm>
          <a:custGeom>
            <a:avLst/>
            <a:gdLst/>
            <a:ahLst/>
            <a:cxnLst/>
            <a:rect l="l" t="t" r="r" b="b"/>
            <a:pathLst>
              <a:path w="11049000" h="28575">
                <a:moveTo>
                  <a:pt x="11048999" y="28574"/>
                </a:moveTo>
                <a:lnTo>
                  <a:pt x="0" y="28574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28574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58801" y="2793364"/>
            <a:ext cx="261620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0" spc="-780" b="1">
                <a:solidFill>
                  <a:srgbClr val="D4AE37"/>
                </a:solidFill>
                <a:latin typeface="Tahoma"/>
                <a:cs typeface="Tahoma"/>
              </a:rPr>
              <a:t>78x</a:t>
            </a:r>
            <a:endParaRPr sz="1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3560" y="4367657"/>
            <a:ext cx="1786889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0">
                <a:solidFill>
                  <a:srgbClr val="003366"/>
                </a:solidFill>
                <a:latin typeface="Tahoma"/>
                <a:cs typeface="Tahoma"/>
              </a:rPr>
              <a:t>Speed</a:t>
            </a:r>
            <a:r>
              <a:rPr dirty="0" sz="2100" spc="-215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003366"/>
                </a:solidFill>
                <a:latin typeface="Tahoma"/>
                <a:cs typeface="Tahoma"/>
              </a:rPr>
              <a:t>Increase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21100" y="2722177"/>
            <a:ext cx="7035165" cy="1213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5">
                <a:solidFill>
                  <a:srgbClr val="003366"/>
                </a:solidFill>
                <a:latin typeface="Arial Black"/>
                <a:cs typeface="Arial Black"/>
              </a:rPr>
              <a:t>The</a:t>
            </a:r>
            <a:r>
              <a:rPr dirty="0" sz="2400" spc="-265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2400" spc="-175">
                <a:solidFill>
                  <a:srgbClr val="003366"/>
                </a:solidFill>
                <a:latin typeface="Arial Black"/>
                <a:cs typeface="Arial Black"/>
              </a:rPr>
              <a:t>"Evil</a:t>
            </a:r>
            <a:r>
              <a:rPr dirty="0" sz="2400" spc="-26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2400" spc="-114">
                <a:solidFill>
                  <a:srgbClr val="003366"/>
                </a:solidFill>
                <a:latin typeface="Arial Black"/>
                <a:cs typeface="Arial Black"/>
              </a:rPr>
              <a:t>Grid"</a:t>
            </a:r>
            <a:r>
              <a:rPr dirty="0" sz="2400" spc="-26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2400" spc="-75">
                <a:solidFill>
                  <a:srgbClr val="003366"/>
                </a:solidFill>
                <a:latin typeface="Arial Black"/>
                <a:cs typeface="Arial Black"/>
              </a:rPr>
              <a:t>Case</a:t>
            </a:r>
            <a:r>
              <a:rPr dirty="0" sz="2400" spc="-26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2400" spc="-10">
                <a:solidFill>
                  <a:srgbClr val="003366"/>
                </a:solidFill>
                <a:latin typeface="Arial Black"/>
                <a:cs typeface="Arial Black"/>
              </a:rPr>
              <a:t>Study</a:t>
            </a:r>
            <a:endParaRPr sz="24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1290"/>
              </a:spcBef>
            </a:pP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Standard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backtracking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34155"/>
                </a:solidFill>
                <a:latin typeface="Tahoma"/>
                <a:cs typeface="Tahoma"/>
              </a:rPr>
              <a:t>gets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trapped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in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millions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of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combinations</a:t>
            </a:r>
            <a:r>
              <a:rPr dirty="0" sz="1350" spc="-114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for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highly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constrained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334155"/>
                </a:solidFill>
                <a:latin typeface="Tahoma"/>
                <a:cs typeface="Tahoma"/>
              </a:rPr>
              <a:t>grids.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34155"/>
                </a:solidFill>
                <a:latin typeface="Tahoma"/>
                <a:cs typeface="Tahoma"/>
              </a:rPr>
              <a:t>By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implementing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the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75" b="1">
                <a:solidFill>
                  <a:srgbClr val="334155"/>
                </a:solidFill>
                <a:latin typeface="Tahoma"/>
                <a:cs typeface="Tahoma"/>
              </a:rPr>
              <a:t>Optimized </a:t>
            </a:r>
            <a:r>
              <a:rPr dirty="0" sz="1350" b="1">
                <a:solidFill>
                  <a:srgbClr val="334155"/>
                </a:solidFill>
                <a:latin typeface="Tahoma"/>
                <a:cs typeface="Tahoma"/>
              </a:rPr>
              <a:t>MRV</a:t>
            </a:r>
            <a:r>
              <a:rPr dirty="0" sz="1350" spc="-75" b="1">
                <a:solidFill>
                  <a:srgbClr val="334155"/>
                </a:solidFill>
                <a:latin typeface="Tahoma"/>
                <a:cs typeface="Tahoma"/>
              </a:rPr>
              <a:t> Heuristic</a:t>
            </a:r>
            <a:r>
              <a:rPr dirty="0" sz="1350" spc="-75">
                <a:solidFill>
                  <a:srgbClr val="334155"/>
                </a:solidFill>
                <a:latin typeface="Tahoma"/>
                <a:cs typeface="Tahoma"/>
              </a:rPr>
              <a:t>,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our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34155"/>
                </a:solidFill>
                <a:latin typeface="Tahoma"/>
                <a:cs typeface="Tahoma"/>
              </a:rPr>
              <a:t>agent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identifies</a:t>
            </a:r>
            <a:r>
              <a:rPr dirty="0" sz="1350" spc="-10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critical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cells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immediately.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06850" y="4045742"/>
            <a:ext cx="3274695" cy="57404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640"/>
              </a:spcBef>
              <a:buFont typeface="Tahoma"/>
              <a:buChar char="•"/>
              <a:tabLst>
                <a:tab pos="203200" algn="l"/>
              </a:tabLst>
            </a:pPr>
            <a:r>
              <a:rPr dirty="0" sz="1350" spc="-95" b="1">
                <a:solidFill>
                  <a:srgbClr val="334155"/>
                </a:solidFill>
                <a:latin typeface="Tahoma"/>
                <a:cs typeface="Tahoma"/>
              </a:rPr>
              <a:t>Standard:</a:t>
            </a:r>
            <a:r>
              <a:rPr dirty="0" sz="1350" spc="-90" b="1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346.13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seconds</a:t>
            </a:r>
            <a:r>
              <a:rPr dirty="0" sz="13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80">
                <a:solidFill>
                  <a:srgbClr val="334155"/>
                </a:solidFill>
                <a:latin typeface="Tahoma"/>
                <a:cs typeface="Tahoma"/>
              </a:rPr>
              <a:t>(~5.7</a:t>
            </a:r>
            <a:r>
              <a:rPr dirty="0" sz="1350" spc="-114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minutes)</a:t>
            </a:r>
            <a:endParaRPr sz="1350">
              <a:latin typeface="Tahoma"/>
              <a:cs typeface="Tahoma"/>
            </a:endParaRPr>
          </a:p>
          <a:p>
            <a:pPr marL="203200" indent="-190500">
              <a:lnSpc>
                <a:spcPct val="100000"/>
              </a:lnSpc>
              <a:spcBef>
                <a:spcPts val="540"/>
              </a:spcBef>
              <a:buFont typeface="Tahoma"/>
              <a:buChar char="•"/>
              <a:tabLst>
                <a:tab pos="203200" algn="l"/>
              </a:tabLst>
            </a:pPr>
            <a:r>
              <a:rPr dirty="0" sz="1350" spc="-80" b="1">
                <a:solidFill>
                  <a:srgbClr val="334155"/>
                </a:solidFill>
                <a:latin typeface="Tahoma"/>
                <a:cs typeface="Tahoma"/>
              </a:rPr>
              <a:t>Optimized:</a:t>
            </a:r>
            <a:r>
              <a:rPr dirty="0" sz="1350" spc="-110" b="1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4.41</a:t>
            </a:r>
            <a:r>
              <a:rPr dirty="0" sz="1350" spc="-13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seconds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500" y="1266825"/>
            <a:ext cx="11049000" cy="28575"/>
          </a:xfrm>
          <a:custGeom>
            <a:avLst/>
            <a:gdLst/>
            <a:ahLst/>
            <a:cxnLst/>
            <a:rect l="l" t="t" r="r" b="b"/>
            <a:pathLst>
              <a:path w="11049000" h="28575">
                <a:moveTo>
                  <a:pt x="11048999" y="28499"/>
                </a:moveTo>
                <a:lnTo>
                  <a:pt x="0" y="284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28499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8800" y="542797"/>
            <a:ext cx="4364990" cy="50545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0"/>
              <a:t>Experimental</a:t>
            </a:r>
            <a:r>
              <a:rPr dirty="0" spc="-325"/>
              <a:t> </a:t>
            </a:r>
            <a:r>
              <a:rPr dirty="0" spc="-140"/>
              <a:t>Results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66737" y="1709737"/>
            <a:ext cx="11058525" cy="4391025"/>
            <a:chOff x="566737" y="1709737"/>
            <a:chExt cx="11058525" cy="4391025"/>
          </a:xfrm>
        </p:grpSpPr>
        <p:sp>
          <p:nvSpPr>
            <p:cNvPr id="5" name="object 5"/>
            <p:cNvSpPr/>
            <p:nvPr/>
          </p:nvSpPr>
          <p:spPr>
            <a:xfrm>
              <a:off x="571500" y="1714500"/>
              <a:ext cx="11049000" cy="4381500"/>
            </a:xfrm>
            <a:custGeom>
              <a:avLst/>
              <a:gdLst/>
              <a:ahLst/>
              <a:cxnLst/>
              <a:rect l="l" t="t" r="r" b="b"/>
              <a:pathLst>
                <a:path w="11049000" h="4381500">
                  <a:moveTo>
                    <a:pt x="10896611" y="4381499"/>
                  </a:moveTo>
                  <a:lnTo>
                    <a:pt x="152388" y="4381499"/>
                  </a:lnTo>
                  <a:lnTo>
                    <a:pt x="104222" y="4373731"/>
                  </a:lnTo>
                  <a:lnTo>
                    <a:pt x="62389" y="4352097"/>
                  </a:lnTo>
                  <a:lnTo>
                    <a:pt x="29402" y="4319110"/>
                  </a:lnTo>
                  <a:lnTo>
                    <a:pt x="7768" y="4277277"/>
                  </a:lnTo>
                  <a:lnTo>
                    <a:pt x="0" y="4229111"/>
                  </a:lnTo>
                  <a:lnTo>
                    <a:pt x="0" y="152388"/>
                  </a:lnTo>
                  <a:lnTo>
                    <a:pt x="7768" y="104221"/>
                  </a:lnTo>
                  <a:lnTo>
                    <a:pt x="29402" y="62389"/>
                  </a:lnTo>
                  <a:lnTo>
                    <a:pt x="62389" y="29402"/>
                  </a:lnTo>
                  <a:lnTo>
                    <a:pt x="104222" y="7768"/>
                  </a:lnTo>
                  <a:lnTo>
                    <a:pt x="152388" y="0"/>
                  </a:lnTo>
                  <a:lnTo>
                    <a:pt x="10896611" y="0"/>
                  </a:lnTo>
                  <a:lnTo>
                    <a:pt x="10954928" y="11599"/>
                  </a:lnTo>
                  <a:lnTo>
                    <a:pt x="11004366" y="44633"/>
                  </a:lnTo>
                  <a:lnTo>
                    <a:pt x="11037399" y="94072"/>
                  </a:lnTo>
                  <a:lnTo>
                    <a:pt x="11048999" y="152388"/>
                  </a:lnTo>
                  <a:lnTo>
                    <a:pt x="11048999" y="4229111"/>
                  </a:lnTo>
                  <a:lnTo>
                    <a:pt x="11041231" y="4277277"/>
                  </a:lnTo>
                  <a:lnTo>
                    <a:pt x="11019597" y="4319110"/>
                  </a:lnTo>
                  <a:lnTo>
                    <a:pt x="10986610" y="4352097"/>
                  </a:lnTo>
                  <a:lnTo>
                    <a:pt x="10944778" y="4373731"/>
                  </a:lnTo>
                  <a:lnTo>
                    <a:pt x="10896611" y="4381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71500" y="1714500"/>
              <a:ext cx="11049000" cy="4381500"/>
            </a:xfrm>
            <a:custGeom>
              <a:avLst/>
              <a:gdLst/>
              <a:ahLst/>
              <a:cxnLst/>
              <a:rect l="l" t="t" r="r" b="b"/>
              <a:pathLst>
                <a:path w="11049000" h="4381500">
                  <a:moveTo>
                    <a:pt x="0" y="152388"/>
                  </a:moveTo>
                  <a:lnTo>
                    <a:pt x="7768" y="104221"/>
                  </a:lnTo>
                  <a:lnTo>
                    <a:pt x="29402" y="62389"/>
                  </a:lnTo>
                  <a:lnTo>
                    <a:pt x="62389" y="29402"/>
                  </a:lnTo>
                  <a:lnTo>
                    <a:pt x="104222" y="7768"/>
                  </a:lnTo>
                  <a:lnTo>
                    <a:pt x="152388" y="0"/>
                  </a:lnTo>
                  <a:lnTo>
                    <a:pt x="10896611" y="0"/>
                  </a:lnTo>
                  <a:lnTo>
                    <a:pt x="10954928" y="11599"/>
                  </a:lnTo>
                  <a:lnTo>
                    <a:pt x="11004366" y="44633"/>
                  </a:lnTo>
                  <a:lnTo>
                    <a:pt x="11037399" y="94072"/>
                  </a:lnTo>
                  <a:lnTo>
                    <a:pt x="11048999" y="152388"/>
                  </a:lnTo>
                  <a:lnTo>
                    <a:pt x="11048999" y="4229111"/>
                  </a:lnTo>
                  <a:lnTo>
                    <a:pt x="11041231" y="4277277"/>
                  </a:lnTo>
                  <a:lnTo>
                    <a:pt x="11019597" y="4319110"/>
                  </a:lnTo>
                  <a:lnTo>
                    <a:pt x="10986610" y="4352097"/>
                  </a:lnTo>
                  <a:lnTo>
                    <a:pt x="10944778" y="4373731"/>
                  </a:lnTo>
                  <a:lnTo>
                    <a:pt x="10896611" y="4381499"/>
                  </a:lnTo>
                  <a:lnTo>
                    <a:pt x="152388" y="4381499"/>
                  </a:lnTo>
                  <a:lnTo>
                    <a:pt x="104222" y="4373731"/>
                  </a:lnTo>
                  <a:lnTo>
                    <a:pt x="62389" y="4352097"/>
                  </a:lnTo>
                  <a:lnTo>
                    <a:pt x="29402" y="4319110"/>
                  </a:lnTo>
                  <a:lnTo>
                    <a:pt x="7768" y="4277277"/>
                  </a:lnTo>
                  <a:lnTo>
                    <a:pt x="0" y="4229111"/>
                  </a:lnTo>
                  <a:lnTo>
                    <a:pt x="0" y="152388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71500" y="1714500"/>
              <a:ext cx="11049000" cy="571500"/>
            </a:xfrm>
            <a:custGeom>
              <a:avLst/>
              <a:gdLst/>
              <a:ahLst/>
              <a:cxnLst/>
              <a:rect l="l" t="t" r="r" b="b"/>
              <a:pathLst>
                <a:path w="11049000" h="571500">
                  <a:moveTo>
                    <a:pt x="10896603" y="571499"/>
                  </a:moveTo>
                  <a:lnTo>
                    <a:pt x="152396" y="571499"/>
                  </a:lnTo>
                  <a:lnTo>
                    <a:pt x="104227" y="563730"/>
                  </a:lnTo>
                  <a:lnTo>
                    <a:pt x="62392" y="542096"/>
                  </a:lnTo>
                  <a:lnTo>
                    <a:pt x="29403" y="509107"/>
                  </a:lnTo>
                  <a:lnTo>
                    <a:pt x="7769" y="467272"/>
                  </a:lnTo>
                  <a:lnTo>
                    <a:pt x="0" y="419103"/>
                  </a:lnTo>
                  <a:lnTo>
                    <a:pt x="0" y="152395"/>
                  </a:lnTo>
                  <a:lnTo>
                    <a:pt x="7769" y="104227"/>
                  </a:lnTo>
                  <a:lnTo>
                    <a:pt x="29403" y="62392"/>
                  </a:lnTo>
                  <a:lnTo>
                    <a:pt x="62392" y="29403"/>
                  </a:lnTo>
                  <a:lnTo>
                    <a:pt x="104227" y="7769"/>
                  </a:lnTo>
                  <a:lnTo>
                    <a:pt x="152396" y="0"/>
                  </a:lnTo>
                  <a:lnTo>
                    <a:pt x="10896603" y="0"/>
                  </a:lnTo>
                  <a:lnTo>
                    <a:pt x="10954923" y="11600"/>
                  </a:lnTo>
                  <a:lnTo>
                    <a:pt x="11004363" y="44635"/>
                  </a:lnTo>
                  <a:lnTo>
                    <a:pt x="11037399" y="94076"/>
                  </a:lnTo>
                  <a:lnTo>
                    <a:pt x="11048999" y="152395"/>
                  </a:lnTo>
                  <a:lnTo>
                    <a:pt x="11048999" y="419103"/>
                  </a:lnTo>
                  <a:lnTo>
                    <a:pt x="11041230" y="467272"/>
                  </a:lnTo>
                  <a:lnTo>
                    <a:pt x="11019596" y="509107"/>
                  </a:lnTo>
                  <a:lnTo>
                    <a:pt x="10986606" y="542096"/>
                  </a:lnTo>
                  <a:lnTo>
                    <a:pt x="10944772" y="563730"/>
                  </a:lnTo>
                  <a:lnTo>
                    <a:pt x="10896603" y="57149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44550" y="1891041"/>
            <a:ext cx="14554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0">
                <a:solidFill>
                  <a:srgbClr val="64738B"/>
                </a:solidFill>
                <a:latin typeface="Arial Black"/>
                <a:cs typeface="Arial Black"/>
              </a:rPr>
              <a:t>Puzzle</a:t>
            </a:r>
            <a:r>
              <a:rPr dirty="0" sz="1200" spc="-110">
                <a:solidFill>
                  <a:srgbClr val="64738B"/>
                </a:solidFill>
                <a:latin typeface="Arial Black"/>
                <a:cs typeface="Arial Black"/>
              </a:rPr>
              <a:t> </a:t>
            </a:r>
            <a:r>
              <a:rPr dirty="0" sz="1200" spc="-25">
                <a:solidFill>
                  <a:srgbClr val="64738B"/>
                </a:solidFill>
                <a:latin typeface="Arial Black"/>
                <a:cs typeface="Arial Black"/>
              </a:rPr>
              <a:t>Complexity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40050" y="1891041"/>
            <a:ext cx="7715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64738B"/>
                </a:solidFill>
                <a:latin typeface="Arial Black"/>
                <a:cs typeface="Arial Black"/>
              </a:rPr>
              <a:t>Grid</a:t>
            </a:r>
            <a:r>
              <a:rPr dirty="0" sz="1200" spc="-114">
                <a:solidFill>
                  <a:srgbClr val="64738B"/>
                </a:solidFill>
                <a:latin typeface="Arial Black"/>
                <a:cs typeface="Arial Black"/>
              </a:rPr>
              <a:t> </a:t>
            </a:r>
            <a:r>
              <a:rPr dirty="0" sz="1200" spc="-30">
                <a:solidFill>
                  <a:srgbClr val="64738B"/>
                </a:solidFill>
                <a:latin typeface="Arial Black"/>
                <a:cs typeface="Arial Black"/>
              </a:rPr>
              <a:t>Type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35550" y="1891041"/>
            <a:ext cx="1448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0">
                <a:solidFill>
                  <a:srgbClr val="64738B"/>
                </a:solidFill>
                <a:latin typeface="Arial Black"/>
                <a:cs typeface="Arial Black"/>
              </a:rPr>
              <a:t>Standard</a:t>
            </a:r>
            <a:r>
              <a:rPr dirty="0" sz="1200" spc="-110">
                <a:solidFill>
                  <a:srgbClr val="64738B"/>
                </a:solidFill>
                <a:latin typeface="Arial Black"/>
                <a:cs typeface="Arial Black"/>
              </a:rPr>
              <a:t> </a:t>
            </a:r>
            <a:r>
              <a:rPr dirty="0" sz="1200" spc="-55">
                <a:solidFill>
                  <a:srgbClr val="64738B"/>
                </a:solidFill>
                <a:latin typeface="Arial Black"/>
                <a:cs typeface="Arial Black"/>
              </a:rPr>
              <a:t>Time</a:t>
            </a:r>
            <a:r>
              <a:rPr dirty="0" sz="1200" spc="-105">
                <a:solidFill>
                  <a:srgbClr val="64738B"/>
                </a:solidFill>
                <a:latin typeface="Arial Black"/>
                <a:cs typeface="Arial Black"/>
              </a:rPr>
              <a:t> </a:t>
            </a:r>
            <a:r>
              <a:rPr dirty="0" sz="1200" spc="-25">
                <a:solidFill>
                  <a:srgbClr val="64738B"/>
                </a:solidFill>
                <a:latin typeface="Arial Black"/>
                <a:cs typeface="Arial Black"/>
              </a:rPr>
              <a:t>(s)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21550" y="1891041"/>
            <a:ext cx="14808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0">
                <a:solidFill>
                  <a:srgbClr val="64738B"/>
                </a:solidFill>
                <a:latin typeface="Arial Black"/>
                <a:cs typeface="Arial Black"/>
              </a:rPr>
              <a:t>MRV</a:t>
            </a:r>
            <a:r>
              <a:rPr dirty="0" sz="1200" spc="-114">
                <a:solidFill>
                  <a:srgbClr val="64738B"/>
                </a:solidFill>
                <a:latin typeface="Arial Black"/>
                <a:cs typeface="Arial Black"/>
              </a:rPr>
              <a:t> </a:t>
            </a:r>
            <a:r>
              <a:rPr dirty="0" sz="1200" spc="-35">
                <a:solidFill>
                  <a:srgbClr val="64738B"/>
                </a:solidFill>
                <a:latin typeface="Arial Black"/>
                <a:cs typeface="Arial Black"/>
              </a:rPr>
              <a:t>Optimized</a:t>
            </a:r>
            <a:r>
              <a:rPr dirty="0" sz="1200" spc="-110">
                <a:solidFill>
                  <a:srgbClr val="64738B"/>
                </a:solidFill>
                <a:latin typeface="Arial Black"/>
                <a:cs typeface="Arial Black"/>
              </a:rPr>
              <a:t> </a:t>
            </a:r>
            <a:r>
              <a:rPr dirty="0" sz="1200" spc="-25">
                <a:solidFill>
                  <a:srgbClr val="64738B"/>
                </a:solidFill>
                <a:latin typeface="Arial Black"/>
                <a:cs typeface="Arial Black"/>
              </a:rPr>
              <a:t>(s)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10444" y="1891041"/>
            <a:ext cx="534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5">
                <a:solidFill>
                  <a:srgbClr val="64738B"/>
                </a:solidFill>
                <a:latin typeface="Arial Black"/>
                <a:cs typeface="Arial Black"/>
              </a:rPr>
              <a:t>Status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953625" y="3190875"/>
            <a:ext cx="1048385" cy="286385"/>
          </a:xfrm>
          <a:custGeom>
            <a:avLst/>
            <a:gdLst/>
            <a:ahLst/>
            <a:cxnLst/>
            <a:rect l="l" t="t" r="r" b="b"/>
            <a:pathLst>
              <a:path w="1048384" h="286385">
                <a:moveTo>
                  <a:pt x="904949" y="285899"/>
                </a:moveTo>
                <a:lnTo>
                  <a:pt x="142949" y="285899"/>
                </a:lnTo>
                <a:lnTo>
                  <a:pt x="97766" y="278612"/>
                </a:lnTo>
                <a:lnTo>
                  <a:pt x="58525" y="258318"/>
                </a:lnTo>
                <a:lnTo>
                  <a:pt x="27581" y="227374"/>
                </a:lnTo>
                <a:lnTo>
                  <a:pt x="7287" y="188133"/>
                </a:lnTo>
                <a:lnTo>
                  <a:pt x="0" y="142949"/>
                </a:lnTo>
                <a:lnTo>
                  <a:pt x="7287" y="97766"/>
                </a:lnTo>
                <a:lnTo>
                  <a:pt x="27581" y="58525"/>
                </a:lnTo>
                <a:lnTo>
                  <a:pt x="58525" y="27581"/>
                </a:lnTo>
                <a:lnTo>
                  <a:pt x="97766" y="7287"/>
                </a:lnTo>
                <a:lnTo>
                  <a:pt x="142949" y="0"/>
                </a:lnTo>
                <a:lnTo>
                  <a:pt x="904949" y="0"/>
                </a:lnTo>
                <a:lnTo>
                  <a:pt x="959654" y="10881"/>
                </a:lnTo>
                <a:lnTo>
                  <a:pt x="1006031" y="41869"/>
                </a:lnTo>
                <a:lnTo>
                  <a:pt x="1037018" y="88245"/>
                </a:lnTo>
                <a:lnTo>
                  <a:pt x="1047899" y="142949"/>
                </a:lnTo>
                <a:lnTo>
                  <a:pt x="1040612" y="188133"/>
                </a:lnTo>
                <a:lnTo>
                  <a:pt x="1020318" y="227374"/>
                </a:lnTo>
                <a:lnTo>
                  <a:pt x="989374" y="258318"/>
                </a:lnTo>
                <a:lnTo>
                  <a:pt x="950133" y="278612"/>
                </a:lnTo>
                <a:lnTo>
                  <a:pt x="904949" y="285899"/>
                </a:lnTo>
                <a:close/>
              </a:path>
            </a:pathLst>
          </a:custGeom>
          <a:solidFill>
            <a:srgbClr val="D1FA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953625" y="3952875"/>
            <a:ext cx="1048385" cy="286385"/>
          </a:xfrm>
          <a:custGeom>
            <a:avLst/>
            <a:gdLst/>
            <a:ahLst/>
            <a:cxnLst/>
            <a:rect l="l" t="t" r="r" b="b"/>
            <a:pathLst>
              <a:path w="1048384" h="286385">
                <a:moveTo>
                  <a:pt x="904949" y="285899"/>
                </a:moveTo>
                <a:lnTo>
                  <a:pt x="142949" y="285899"/>
                </a:lnTo>
                <a:lnTo>
                  <a:pt x="97766" y="278612"/>
                </a:lnTo>
                <a:lnTo>
                  <a:pt x="58525" y="258318"/>
                </a:lnTo>
                <a:lnTo>
                  <a:pt x="27581" y="227374"/>
                </a:lnTo>
                <a:lnTo>
                  <a:pt x="7287" y="188133"/>
                </a:lnTo>
                <a:lnTo>
                  <a:pt x="0" y="142949"/>
                </a:lnTo>
                <a:lnTo>
                  <a:pt x="7287" y="97766"/>
                </a:lnTo>
                <a:lnTo>
                  <a:pt x="27581" y="58525"/>
                </a:lnTo>
                <a:lnTo>
                  <a:pt x="58525" y="27581"/>
                </a:lnTo>
                <a:lnTo>
                  <a:pt x="97766" y="7287"/>
                </a:lnTo>
                <a:lnTo>
                  <a:pt x="142949" y="0"/>
                </a:lnTo>
                <a:lnTo>
                  <a:pt x="904949" y="0"/>
                </a:lnTo>
                <a:lnTo>
                  <a:pt x="959654" y="10881"/>
                </a:lnTo>
                <a:lnTo>
                  <a:pt x="1006031" y="41869"/>
                </a:lnTo>
                <a:lnTo>
                  <a:pt x="1037018" y="88245"/>
                </a:lnTo>
                <a:lnTo>
                  <a:pt x="1047899" y="142949"/>
                </a:lnTo>
                <a:lnTo>
                  <a:pt x="1040612" y="188133"/>
                </a:lnTo>
                <a:lnTo>
                  <a:pt x="1020318" y="227374"/>
                </a:lnTo>
                <a:lnTo>
                  <a:pt x="989374" y="258318"/>
                </a:lnTo>
                <a:lnTo>
                  <a:pt x="950133" y="278612"/>
                </a:lnTo>
                <a:lnTo>
                  <a:pt x="904949" y="285899"/>
                </a:lnTo>
                <a:close/>
              </a:path>
            </a:pathLst>
          </a:custGeom>
          <a:solidFill>
            <a:srgbClr val="D1FA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953625" y="4714875"/>
            <a:ext cx="1048385" cy="286385"/>
          </a:xfrm>
          <a:custGeom>
            <a:avLst/>
            <a:gdLst/>
            <a:ahLst/>
            <a:cxnLst/>
            <a:rect l="l" t="t" r="r" b="b"/>
            <a:pathLst>
              <a:path w="1048384" h="286385">
                <a:moveTo>
                  <a:pt x="904949" y="285899"/>
                </a:moveTo>
                <a:lnTo>
                  <a:pt x="142949" y="285899"/>
                </a:lnTo>
                <a:lnTo>
                  <a:pt x="97766" y="278612"/>
                </a:lnTo>
                <a:lnTo>
                  <a:pt x="58525" y="258318"/>
                </a:lnTo>
                <a:lnTo>
                  <a:pt x="27581" y="227374"/>
                </a:lnTo>
                <a:lnTo>
                  <a:pt x="7287" y="188133"/>
                </a:lnTo>
                <a:lnTo>
                  <a:pt x="0" y="142949"/>
                </a:lnTo>
                <a:lnTo>
                  <a:pt x="7287" y="97766"/>
                </a:lnTo>
                <a:lnTo>
                  <a:pt x="27581" y="58525"/>
                </a:lnTo>
                <a:lnTo>
                  <a:pt x="58525" y="27581"/>
                </a:lnTo>
                <a:lnTo>
                  <a:pt x="97766" y="7287"/>
                </a:lnTo>
                <a:lnTo>
                  <a:pt x="142949" y="0"/>
                </a:lnTo>
                <a:lnTo>
                  <a:pt x="904949" y="0"/>
                </a:lnTo>
                <a:lnTo>
                  <a:pt x="959654" y="10881"/>
                </a:lnTo>
                <a:lnTo>
                  <a:pt x="1006031" y="41869"/>
                </a:lnTo>
                <a:lnTo>
                  <a:pt x="1037018" y="88245"/>
                </a:lnTo>
                <a:lnTo>
                  <a:pt x="1047899" y="142949"/>
                </a:lnTo>
                <a:lnTo>
                  <a:pt x="1040612" y="188133"/>
                </a:lnTo>
                <a:lnTo>
                  <a:pt x="1020318" y="227374"/>
                </a:lnTo>
                <a:lnTo>
                  <a:pt x="989374" y="258318"/>
                </a:lnTo>
                <a:lnTo>
                  <a:pt x="950133" y="278612"/>
                </a:lnTo>
                <a:lnTo>
                  <a:pt x="904949" y="285899"/>
                </a:lnTo>
                <a:close/>
              </a:path>
            </a:pathLst>
          </a:custGeom>
          <a:solidFill>
            <a:srgbClr val="D1FA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953625" y="5476875"/>
            <a:ext cx="1048385" cy="286385"/>
          </a:xfrm>
          <a:custGeom>
            <a:avLst/>
            <a:gdLst/>
            <a:ahLst/>
            <a:cxnLst/>
            <a:rect l="l" t="t" r="r" b="b"/>
            <a:pathLst>
              <a:path w="1048384" h="286385">
                <a:moveTo>
                  <a:pt x="904949" y="285899"/>
                </a:moveTo>
                <a:lnTo>
                  <a:pt x="142949" y="285899"/>
                </a:lnTo>
                <a:lnTo>
                  <a:pt x="97766" y="278612"/>
                </a:lnTo>
                <a:lnTo>
                  <a:pt x="58525" y="258318"/>
                </a:lnTo>
                <a:lnTo>
                  <a:pt x="27581" y="227374"/>
                </a:lnTo>
                <a:lnTo>
                  <a:pt x="7287" y="188133"/>
                </a:lnTo>
                <a:lnTo>
                  <a:pt x="0" y="142949"/>
                </a:lnTo>
                <a:lnTo>
                  <a:pt x="7287" y="97766"/>
                </a:lnTo>
                <a:lnTo>
                  <a:pt x="27581" y="58525"/>
                </a:lnTo>
                <a:lnTo>
                  <a:pt x="58525" y="27581"/>
                </a:lnTo>
                <a:lnTo>
                  <a:pt x="97766" y="7287"/>
                </a:lnTo>
                <a:lnTo>
                  <a:pt x="142949" y="0"/>
                </a:lnTo>
                <a:lnTo>
                  <a:pt x="904949" y="0"/>
                </a:lnTo>
                <a:lnTo>
                  <a:pt x="959654" y="10881"/>
                </a:lnTo>
                <a:lnTo>
                  <a:pt x="1006031" y="41869"/>
                </a:lnTo>
                <a:lnTo>
                  <a:pt x="1037018" y="88245"/>
                </a:lnTo>
                <a:lnTo>
                  <a:pt x="1047899" y="142949"/>
                </a:lnTo>
                <a:lnTo>
                  <a:pt x="1040612" y="188133"/>
                </a:lnTo>
                <a:lnTo>
                  <a:pt x="1020318" y="227374"/>
                </a:lnTo>
                <a:lnTo>
                  <a:pt x="989374" y="258318"/>
                </a:lnTo>
                <a:lnTo>
                  <a:pt x="950133" y="278612"/>
                </a:lnTo>
                <a:lnTo>
                  <a:pt x="904949" y="285899"/>
                </a:lnTo>
                <a:close/>
              </a:path>
            </a:pathLst>
          </a:custGeom>
          <a:solidFill>
            <a:srgbClr val="D1FAE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571500" y="2286037"/>
          <a:ext cx="11125200" cy="3449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/>
                <a:gridCol w="1762760"/>
                <a:gridCol w="1858010"/>
                <a:gridCol w="2425065"/>
                <a:gridCol w="2603499"/>
                <a:gridCol w="1828800"/>
                <a:gridCol w="285750"/>
              </a:tblGrid>
              <a:tr h="76200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E0E7E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E0E7EF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E0E7EF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E0E7EF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E0E7EF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E0E7EF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E0E7EF"/>
                      </a:solidFill>
                      <a:prstDash val="solid"/>
                    </a:lnT>
                  </a:tcPr>
                </a:tc>
              </a:tr>
              <a:tr h="7620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9525">
                      <a:solidFill>
                        <a:srgbClr val="E0E7E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300" spc="-25">
                          <a:solidFill>
                            <a:srgbClr val="003366"/>
                          </a:solidFill>
                          <a:latin typeface="Arial Black"/>
                          <a:cs typeface="Arial Black"/>
                        </a:rPr>
                        <a:t>Low</a:t>
                      </a:r>
                      <a:endParaRPr sz="1300">
                        <a:latin typeface="Arial Black"/>
                        <a:cs typeface="Arial Black"/>
                      </a:endParaRPr>
                    </a:p>
                  </a:txBody>
                  <a:tcPr marL="0" marR="0" marB="0" marT="179070">
                    <a:lnT w="9525">
                      <a:solidFill>
                        <a:srgbClr val="F0F3F8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274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30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Easy</a:t>
                      </a:r>
                      <a:r>
                        <a:rPr dirty="0" sz="1300" spc="-16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2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Grid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179070">
                    <a:lnT w="9525">
                      <a:solidFill>
                        <a:srgbClr val="F0F3F8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300" spc="-1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0.00062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179070">
                    <a:lnT w="9525">
                      <a:solidFill>
                        <a:srgbClr val="F0F3F8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16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300" spc="-1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0.00067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179070">
                    <a:lnT w="9525">
                      <a:solidFill>
                        <a:srgbClr val="F0F3F8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640080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059668"/>
                          </a:solidFill>
                          <a:latin typeface="Tahoma"/>
                          <a:cs typeface="Tahoma"/>
                        </a:rPr>
                        <a:t>Solved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33655">
                    <a:lnT w="9525">
                      <a:solidFill>
                        <a:srgbClr val="F0F3F8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9525">
                      <a:solidFill>
                        <a:srgbClr val="E0E7EF"/>
                      </a:solidFill>
                      <a:prstDash val="solid"/>
                    </a:lnT>
                  </a:tcPr>
                </a:tc>
              </a:tr>
              <a:tr h="7620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9525">
                      <a:solidFill>
                        <a:srgbClr val="E0E7E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300" spc="-10">
                          <a:solidFill>
                            <a:srgbClr val="003366"/>
                          </a:solidFill>
                          <a:latin typeface="Arial Black"/>
                          <a:cs typeface="Arial Black"/>
                        </a:rPr>
                        <a:t>Medium</a:t>
                      </a:r>
                      <a:endParaRPr sz="1300">
                        <a:latin typeface="Arial Black"/>
                        <a:cs typeface="Arial Black"/>
                      </a:endParaRPr>
                    </a:p>
                  </a:txBody>
                  <a:tcPr marL="0" marR="0" marB="0" marT="179070">
                    <a:lnT w="9525">
                      <a:solidFill>
                        <a:srgbClr val="F0F3F8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274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30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Medium</a:t>
                      </a:r>
                      <a:r>
                        <a:rPr dirty="0" sz="1300" spc="2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2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Grid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179070">
                    <a:lnT w="9525">
                      <a:solidFill>
                        <a:srgbClr val="F0F3F8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300" spc="-1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0.00780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179070">
                    <a:lnT w="9525">
                      <a:solidFill>
                        <a:srgbClr val="F0F3F8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16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300" spc="-1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0.00830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179070">
                    <a:lnT w="9525">
                      <a:solidFill>
                        <a:srgbClr val="F0F3F8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640080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059668"/>
                          </a:solidFill>
                          <a:latin typeface="Tahoma"/>
                          <a:cs typeface="Tahoma"/>
                        </a:rPr>
                        <a:t>Solved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33655">
                    <a:lnT w="9525">
                      <a:solidFill>
                        <a:srgbClr val="F0F3F8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7620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9525">
                      <a:solidFill>
                        <a:srgbClr val="E0E7E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300" spc="-20">
                          <a:solidFill>
                            <a:srgbClr val="003366"/>
                          </a:solidFill>
                          <a:latin typeface="Arial Black"/>
                          <a:cs typeface="Arial Black"/>
                        </a:rPr>
                        <a:t>High</a:t>
                      </a:r>
                      <a:endParaRPr sz="1300">
                        <a:latin typeface="Arial Black"/>
                        <a:cs typeface="Arial Black"/>
                      </a:endParaRPr>
                    </a:p>
                  </a:txBody>
                  <a:tcPr marL="0" marR="0" marB="0" marT="179070">
                    <a:lnT w="9525">
                      <a:solidFill>
                        <a:srgbClr val="F0F3F8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274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30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Hard</a:t>
                      </a:r>
                      <a:r>
                        <a:rPr dirty="0" sz="1300" spc="-25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2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Grid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179070">
                    <a:lnT w="9525">
                      <a:solidFill>
                        <a:srgbClr val="F0F3F8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300" spc="-1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1.02100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179070">
                    <a:lnT w="9525">
                      <a:solidFill>
                        <a:srgbClr val="F0F3F8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16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300" spc="-10">
                          <a:solidFill>
                            <a:srgbClr val="D4AE37"/>
                          </a:solidFill>
                          <a:latin typeface="Arial Black"/>
                          <a:cs typeface="Arial Black"/>
                        </a:rPr>
                        <a:t>1.01359</a:t>
                      </a:r>
                      <a:endParaRPr sz="1300">
                        <a:latin typeface="Arial Black"/>
                        <a:cs typeface="Arial Black"/>
                      </a:endParaRPr>
                    </a:p>
                  </a:txBody>
                  <a:tcPr marL="0" marR="0" marB="0" marT="179070">
                    <a:lnT w="9525">
                      <a:solidFill>
                        <a:srgbClr val="F0F3F8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640080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059668"/>
                          </a:solidFill>
                          <a:latin typeface="Tahoma"/>
                          <a:cs typeface="Tahoma"/>
                        </a:rPr>
                        <a:t>Solved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33655">
                    <a:lnT w="9525">
                      <a:solidFill>
                        <a:srgbClr val="F0F3F8"/>
                      </a:solidFill>
                      <a:prstDash val="solid"/>
                    </a:lnT>
                    <a:lnB w="9525">
                      <a:solidFill>
                        <a:srgbClr val="F0F3F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01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300" spc="-10">
                          <a:solidFill>
                            <a:srgbClr val="B91B1B"/>
                          </a:solidFill>
                          <a:latin typeface="Arial Black"/>
                          <a:cs typeface="Arial Black"/>
                        </a:rPr>
                        <a:t>Extreme</a:t>
                      </a:r>
                      <a:endParaRPr sz="1300">
                        <a:latin typeface="Arial Black"/>
                        <a:cs typeface="Arial Black"/>
                      </a:endParaRPr>
                    </a:p>
                  </a:txBody>
                  <a:tcPr marL="0" marR="0" marB="0" marT="179070">
                    <a:lnT w="9525">
                      <a:solidFill>
                        <a:srgbClr val="F0F3F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3274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30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Evil</a:t>
                      </a:r>
                      <a:r>
                        <a:rPr dirty="0" sz="1300" spc="-65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2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Grid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179070">
                    <a:lnT w="9525">
                      <a:solidFill>
                        <a:srgbClr val="F0F3F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300" spc="-1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346.131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179070">
                    <a:lnT w="9525">
                      <a:solidFill>
                        <a:srgbClr val="F0F3F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3116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300" spc="-10">
                          <a:solidFill>
                            <a:srgbClr val="059668"/>
                          </a:solidFill>
                          <a:latin typeface="Arial Black"/>
                          <a:cs typeface="Arial Black"/>
                        </a:rPr>
                        <a:t>4.41608</a:t>
                      </a:r>
                      <a:endParaRPr sz="1300">
                        <a:latin typeface="Arial Black"/>
                        <a:cs typeface="Arial Black"/>
                      </a:endParaRPr>
                    </a:p>
                  </a:txBody>
                  <a:tcPr marL="0" marR="0" marB="0" marT="179070">
                    <a:lnT w="9525">
                      <a:solidFill>
                        <a:srgbClr val="F0F3F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640080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059668"/>
                          </a:solidFill>
                          <a:latin typeface="Tahoma"/>
                          <a:cs typeface="Tahoma"/>
                        </a:rPr>
                        <a:t>Solved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33655">
                    <a:lnT w="9525">
                      <a:solidFill>
                        <a:srgbClr val="F0F3F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4226214" y="6335470"/>
            <a:ext cx="37414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94A3B8"/>
                </a:solidFill>
                <a:latin typeface="Tahoma"/>
                <a:cs typeface="Tahoma"/>
              </a:rPr>
              <a:t>Comparative</a:t>
            </a:r>
            <a:r>
              <a:rPr dirty="0" sz="1000" spc="-5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94A3B8"/>
                </a:solidFill>
                <a:latin typeface="Tahoma"/>
                <a:cs typeface="Tahoma"/>
              </a:rPr>
              <a:t>analysis</a:t>
            </a:r>
            <a:r>
              <a:rPr dirty="0" sz="1000" spc="-5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94A3B8"/>
                </a:solidFill>
                <a:latin typeface="Tahoma"/>
                <a:cs typeface="Tahoma"/>
              </a:rPr>
              <a:t>of</a:t>
            </a:r>
            <a:r>
              <a:rPr dirty="0" sz="1000" spc="-5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94A3B8"/>
                </a:solidFill>
                <a:latin typeface="Tahoma"/>
                <a:cs typeface="Tahoma"/>
              </a:rPr>
              <a:t>Standard</a:t>
            </a:r>
            <a:r>
              <a:rPr dirty="0" sz="1000" spc="-45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94A3B8"/>
                </a:solidFill>
                <a:latin typeface="Tahoma"/>
                <a:cs typeface="Tahoma"/>
              </a:rPr>
              <a:t>Backtracking</a:t>
            </a:r>
            <a:r>
              <a:rPr dirty="0" sz="1000" spc="-5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94A3B8"/>
                </a:solidFill>
                <a:latin typeface="Tahoma"/>
                <a:cs typeface="Tahoma"/>
              </a:rPr>
              <a:t>vs.</a:t>
            </a:r>
            <a:r>
              <a:rPr dirty="0" sz="1000" spc="-5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94A3B8"/>
                </a:solidFill>
                <a:latin typeface="Tahoma"/>
                <a:cs typeface="Tahoma"/>
              </a:rPr>
              <a:t>Heuristic</a:t>
            </a:r>
            <a:r>
              <a:rPr dirty="0" sz="1000" spc="-5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94A3B8"/>
                </a:solidFill>
                <a:latin typeface="Tahoma"/>
                <a:cs typeface="Tahoma"/>
              </a:rPr>
              <a:t>Search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1500" y="1266825"/>
            <a:ext cx="11049000" cy="5019675"/>
            <a:chOff x="571500" y="1266825"/>
            <a:chExt cx="11049000" cy="5019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" y="1295400"/>
              <a:ext cx="11048999" cy="49910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71500" y="1266825"/>
              <a:ext cx="11049000" cy="28575"/>
            </a:xfrm>
            <a:custGeom>
              <a:avLst/>
              <a:gdLst/>
              <a:ahLst/>
              <a:cxnLst/>
              <a:rect l="l" t="t" r="r" b="b"/>
              <a:pathLst>
                <a:path w="11049000" h="28575">
                  <a:moveTo>
                    <a:pt x="11048999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11048999" y="0"/>
                  </a:lnTo>
                  <a:lnTo>
                    <a:pt x="11048999" y="28574"/>
                  </a:lnTo>
                  <a:close/>
                </a:path>
              </a:pathLst>
            </a:custGeom>
            <a:solidFill>
              <a:srgbClr val="D4AE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Solving</a:t>
            </a:r>
            <a:r>
              <a:rPr dirty="0" spc="-375"/>
              <a:t> </a:t>
            </a:r>
            <a:r>
              <a:rPr dirty="0" spc="-135"/>
              <a:t>Time</a:t>
            </a:r>
            <a:r>
              <a:rPr dirty="0" spc="-370"/>
              <a:t> </a:t>
            </a:r>
            <a:r>
              <a:rPr dirty="0" spc="-25"/>
              <a:t>Comparison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72582" y="4667634"/>
            <a:ext cx="784796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64738B"/>
                </a:solidFill>
                <a:latin typeface="Tahoma"/>
                <a:cs typeface="Tahoma"/>
              </a:rPr>
              <a:t>The</a:t>
            </a:r>
            <a:r>
              <a:rPr dirty="0" sz="1350" spc="-11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64738B"/>
                </a:solidFill>
                <a:latin typeface="Tahoma"/>
                <a:cs typeface="Tahoma"/>
              </a:rPr>
              <a:t>heuristic</a:t>
            </a:r>
            <a:r>
              <a:rPr dirty="0" sz="1350" spc="-11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Tahoma"/>
                <a:cs typeface="Tahoma"/>
              </a:rPr>
              <a:t>overhead</a:t>
            </a:r>
            <a:r>
              <a:rPr dirty="0" sz="1350" spc="-11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64738B"/>
                </a:solidFill>
                <a:latin typeface="Tahoma"/>
                <a:cs typeface="Tahoma"/>
              </a:rPr>
              <a:t>is</a:t>
            </a:r>
            <a:r>
              <a:rPr dirty="0" sz="1350" spc="-11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64738B"/>
                </a:solidFill>
                <a:latin typeface="Tahoma"/>
                <a:cs typeface="Tahoma"/>
              </a:rPr>
              <a:t>negligible</a:t>
            </a:r>
            <a:r>
              <a:rPr dirty="0" sz="1350" spc="-11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64738B"/>
                </a:solidFill>
                <a:latin typeface="Tahoma"/>
                <a:cs typeface="Tahoma"/>
              </a:rPr>
              <a:t>for</a:t>
            </a:r>
            <a:r>
              <a:rPr dirty="0" sz="1350" spc="-11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64738B"/>
                </a:solidFill>
                <a:latin typeface="Tahoma"/>
                <a:cs typeface="Tahoma"/>
              </a:rPr>
              <a:t>easy</a:t>
            </a:r>
            <a:r>
              <a:rPr dirty="0" sz="1350" spc="-11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64738B"/>
                </a:solidFill>
                <a:latin typeface="Tahoma"/>
                <a:cs typeface="Tahoma"/>
              </a:rPr>
              <a:t>grids,</a:t>
            </a:r>
            <a:r>
              <a:rPr dirty="0" sz="1350" spc="-11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64738B"/>
                </a:solidFill>
                <a:latin typeface="Tahoma"/>
                <a:cs typeface="Tahoma"/>
              </a:rPr>
              <a:t>but</a:t>
            </a:r>
            <a:r>
              <a:rPr dirty="0" sz="1350" spc="-11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Tahoma"/>
                <a:cs typeface="Tahoma"/>
              </a:rPr>
              <a:t>becomes</a:t>
            </a:r>
            <a:r>
              <a:rPr dirty="0" sz="1350" spc="-11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64738B"/>
                </a:solidFill>
                <a:latin typeface="Tahoma"/>
                <a:cs typeface="Tahoma"/>
              </a:rPr>
              <a:t>critical</a:t>
            </a:r>
            <a:r>
              <a:rPr dirty="0" sz="1350" spc="-11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64738B"/>
                </a:solidFill>
                <a:latin typeface="Tahoma"/>
                <a:cs typeface="Tahoma"/>
              </a:rPr>
              <a:t>as</a:t>
            </a:r>
            <a:r>
              <a:rPr dirty="0" sz="1350" spc="-10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64738B"/>
                </a:solidFill>
                <a:latin typeface="Tahoma"/>
                <a:cs typeface="Tahoma"/>
              </a:rPr>
              <a:t>complexity</a:t>
            </a:r>
            <a:r>
              <a:rPr dirty="0" sz="1350" spc="-11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Tahoma"/>
                <a:cs typeface="Tahoma"/>
              </a:rPr>
              <a:t>scales</a:t>
            </a:r>
            <a:r>
              <a:rPr dirty="0" sz="1350" spc="-11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Tahoma"/>
                <a:cs typeface="Tahoma"/>
              </a:rPr>
              <a:t>exponentially.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0"/>
              <a:t>Free</a:t>
            </a:r>
            <a:r>
              <a:rPr dirty="0" spc="-350"/>
              <a:t> </a:t>
            </a:r>
            <a:r>
              <a:rPr dirty="0" spc="-170"/>
              <a:t>Topic:</a:t>
            </a:r>
            <a:r>
              <a:rPr dirty="0" spc="-345"/>
              <a:t> </a:t>
            </a:r>
            <a:r>
              <a:rPr dirty="0" spc="-215"/>
              <a:t>Local</a:t>
            </a:r>
            <a:r>
              <a:rPr dirty="0" spc="-350"/>
              <a:t> </a:t>
            </a:r>
            <a:r>
              <a:rPr dirty="0" spc="-105"/>
              <a:t>Beam</a:t>
            </a:r>
            <a:r>
              <a:rPr dirty="0" spc="-345"/>
              <a:t> </a:t>
            </a:r>
            <a:r>
              <a:rPr dirty="0" spc="-75"/>
              <a:t>Search</a:t>
            </a:r>
          </a:p>
        </p:txBody>
      </p:sp>
      <p:sp>
        <p:nvSpPr>
          <p:cNvPr id="3" name="object 3"/>
          <p:cNvSpPr/>
          <p:nvPr/>
        </p:nvSpPr>
        <p:spPr>
          <a:xfrm>
            <a:off x="571500" y="1266825"/>
            <a:ext cx="11049000" cy="28575"/>
          </a:xfrm>
          <a:custGeom>
            <a:avLst/>
            <a:gdLst/>
            <a:ahLst/>
            <a:cxnLst/>
            <a:rect l="l" t="t" r="r" b="b"/>
            <a:pathLst>
              <a:path w="11049000" h="28575">
                <a:moveTo>
                  <a:pt x="11048999" y="28499"/>
                </a:moveTo>
                <a:lnTo>
                  <a:pt x="0" y="284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28499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65804" y="1518335"/>
            <a:ext cx="5346065" cy="4679315"/>
            <a:chOff x="565804" y="1518335"/>
            <a:chExt cx="5346065" cy="4679315"/>
          </a:xfrm>
        </p:grpSpPr>
        <p:sp>
          <p:nvSpPr>
            <p:cNvPr id="5" name="object 5"/>
            <p:cNvSpPr/>
            <p:nvPr/>
          </p:nvSpPr>
          <p:spPr>
            <a:xfrm>
              <a:off x="571519" y="1524050"/>
              <a:ext cx="5334635" cy="4667885"/>
            </a:xfrm>
            <a:custGeom>
              <a:avLst/>
              <a:gdLst/>
              <a:ahLst/>
              <a:cxnLst/>
              <a:rect l="l" t="t" r="r" b="b"/>
              <a:pathLst>
                <a:path w="5334635" h="4667885">
                  <a:moveTo>
                    <a:pt x="5111938" y="4667383"/>
                  </a:moveTo>
                  <a:lnTo>
                    <a:pt x="222214" y="4667383"/>
                  </a:lnTo>
                  <a:lnTo>
                    <a:pt x="177430" y="4662868"/>
                  </a:lnTo>
                  <a:lnTo>
                    <a:pt x="135718" y="4649920"/>
                  </a:lnTo>
                  <a:lnTo>
                    <a:pt x="97972" y="4629432"/>
                  </a:lnTo>
                  <a:lnTo>
                    <a:pt x="65085" y="4602298"/>
                  </a:lnTo>
                  <a:lnTo>
                    <a:pt x="37950" y="4569411"/>
                  </a:lnTo>
                  <a:lnTo>
                    <a:pt x="17462" y="4531664"/>
                  </a:lnTo>
                  <a:lnTo>
                    <a:pt x="4514" y="4489953"/>
                  </a:lnTo>
                  <a:lnTo>
                    <a:pt x="0" y="4445169"/>
                  </a:lnTo>
                  <a:lnTo>
                    <a:pt x="0" y="222213"/>
                  </a:lnTo>
                  <a:lnTo>
                    <a:pt x="4514" y="177430"/>
                  </a:lnTo>
                  <a:lnTo>
                    <a:pt x="17462" y="135718"/>
                  </a:lnTo>
                  <a:lnTo>
                    <a:pt x="37950" y="97972"/>
                  </a:lnTo>
                  <a:lnTo>
                    <a:pt x="65085" y="65085"/>
                  </a:lnTo>
                  <a:lnTo>
                    <a:pt x="97972" y="37950"/>
                  </a:lnTo>
                  <a:lnTo>
                    <a:pt x="135718" y="17462"/>
                  </a:lnTo>
                  <a:lnTo>
                    <a:pt x="177430" y="4514"/>
                  </a:lnTo>
                  <a:lnTo>
                    <a:pt x="222214" y="0"/>
                  </a:lnTo>
                  <a:lnTo>
                    <a:pt x="5111938" y="0"/>
                  </a:lnTo>
                  <a:lnTo>
                    <a:pt x="5155492" y="4309"/>
                  </a:lnTo>
                  <a:lnTo>
                    <a:pt x="5196975" y="16915"/>
                  </a:lnTo>
                  <a:lnTo>
                    <a:pt x="5235222" y="37334"/>
                  </a:lnTo>
                  <a:lnTo>
                    <a:pt x="5269067" y="65085"/>
                  </a:lnTo>
                  <a:lnTo>
                    <a:pt x="5296817" y="98929"/>
                  </a:lnTo>
                  <a:lnTo>
                    <a:pt x="5317237" y="137176"/>
                  </a:lnTo>
                  <a:lnTo>
                    <a:pt x="5329843" y="178659"/>
                  </a:lnTo>
                  <a:lnTo>
                    <a:pt x="5334152" y="222213"/>
                  </a:lnTo>
                  <a:lnTo>
                    <a:pt x="5334152" y="4445169"/>
                  </a:lnTo>
                  <a:lnTo>
                    <a:pt x="5329637" y="4489953"/>
                  </a:lnTo>
                  <a:lnTo>
                    <a:pt x="5316689" y="4531664"/>
                  </a:lnTo>
                  <a:lnTo>
                    <a:pt x="5296201" y="4569411"/>
                  </a:lnTo>
                  <a:lnTo>
                    <a:pt x="5269067" y="4602298"/>
                  </a:lnTo>
                  <a:lnTo>
                    <a:pt x="5236180" y="4629432"/>
                  </a:lnTo>
                  <a:lnTo>
                    <a:pt x="5198434" y="4649920"/>
                  </a:lnTo>
                  <a:lnTo>
                    <a:pt x="5156722" y="4662868"/>
                  </a:lnTo>
                  <a:lnTo>
                    <a:pt x="5111938" y="4667383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71519" y="1524050"/>
              <a:ext cx="5334635" cy="4667885"/>
            </a:xfrm>
            <a:custGeom>
              <a:avLst/>
              <a:gdLst/>
              <a:ahLst/>
              <a:cxnLst/>
              <a:rect l="l" t="t" r="r" b="b"/>
              <a:pathLst>
                <a:path w="5334635" h="4667885">
                  <a:moveTo>
                    <a:pt x="0" y="222213"/>
                  </a:moveTo>
                  <a:lnTo>
                    <a:pt x="4514" y="177430"/>
                  </a:lnTo>
                  <a:lnTo>
                    <a:pt x="17462" y="135718"/>
                  </a:lnTo>
                  <a:lnTo>
                    <a:pt x="37950" y="97972"/>
                  </a:lnTo>
                  <a:lnTo>
                    <a:pt x="65085" y="65085"/>
                  </a:lnTo>
                  <a:lnTo>
                    <a:pt x="97972" y="37950"/>
                  </a:lnTo>
                  <a:lnTo>
                    <a:pt x="135718" y="17462"/>
                  </a:lnTo>
                  <a:lnTo>
                    <a:pt x="177430" y="4514"/>
                  </a:lnTo>
                  <a:lnTo>
                    <a:pt x="222214" y="0"/>
                  </a:lnTo>
                  <a:lnTo>
                    <a:pt x="5111938" y="0"/>
                  </a:lnTo>
                  <a:lnTo>
                    <a:pt x="5155492" y="4309"/>
                  </a:lnTo>
                  <a:lnTo>
                    <a:pt x="5196975" y="16915"/>
                  </a:lnTo>
                  <a:lnTo>
                    <a:pt x="5235222" y="37334"/>
                  </a:lnTo>
                  <a:lnTo>
                    <a:pt x="5269067" y="65085"/>
                  </a:lnTo>
                  <a:lnTo>
                    <a:pt x="5296817" y="98929"/>
                  </a:lnTo>
                  <a:lnTo>
                    <a:pt x="5317237" y="137176"/>
                  </a:lnTo>
                  <a:lnTo>
                    <a:pt x="5329843" y="178659"/>
                  </a:lnTo>
                  <a:lnTo>
                    <a:pt x="5334152" y="222213"/>
                  </a:lnTo>
                  <a:lnTo>
                    <a:pt x="5334152" y="4445169"/>
                  </a:lnTo>
                  <a:lnTo>
                    <a:pt x="5329637" y="4489953"/>
                  </a:lnTo>
                  <a:lnTo>
                    <a:pt x="5316689" y="4531664"/>
                  </a:lnTo>
                  <a:lnTo>
                    <a:pt x="5296201" y="4569411"/>
                  </a:lnTo>
                  <a:lnTo>
                    <a:pt x="5269067" y="4602298"/>
                  </a:lnTo>
                  <a:lnTo>
                    <a:pt x="5236180" y="4629432"/>
                  </a:lnTo>
                  <a:lnTo>
                    <a:pt x="5198434" y="4649920"/>
                  </a:lnTo>
                  <a:lnTo>
                    <a:pt x="5156722" y="4662868"/>
                  </a:lnTo>
                  <a:lnTo>
                    <a:pt x="5111938" y="4667383"/>
                  </a:lnTo>
                  <a:lnTo>
                    <a:pt x="222214" y="4667383"/>
                  </a:lnTo>
                  <a:lnTo>
                    <a:pt x="177430" y="4662868"/>
                  </a:lnTo>
                  <a:lnTo>
                    <a:pt x="135718" y="4649920"/>
                  </a:lnTo>
                  <a:lnTo>
                    <a:pt x="97972" y="4629432"/>
                  </a:lnTo>
                  <a:lnTo>
                    <a:pt x="65085" y="4602298"/>
                  </a:lnTo>
                  <a:lnTo>
                    <a:pt x="37950" y="4569411"/>
                  </a:lnTo>
                  <a:lnTo>
                    <a:pt x="17462" y="4531664"/>
                  </a:lnTo>
                  <a:lnTo>
                    <a:pt x="4514" y="4489953"/>
                  </a:lnTo>
                  <a:lnTo>
                    <a:pt x="0" y="4445169"/>
                  </a:lnTo>
                  <a:lnTo>
                    <a:pt x="0" y="222213"/>
                  </a:lnTo>
                  <a:close/>
                </a:path>
              </a:pathLst>
            </a:custGeom>
            <a:ln w="111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92203" y="1835549"/>
            <a:ext cx="4411980" cy="7169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65">
                <a:solidFill>
                  <a:srgbClr val="003366"/>
                </a:solidFill>
                <a:latin typeface="Arial Black"/>
                <a:cs typeface="Arial Black"/>
              </a:rPr>
              <a:t>Parallel</a:t>
            </a:r>
            <a:r>
              <a:rPr dirty="0" sz="1800" spc="-185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1800" spc="-80">
                <a:solidFill>
                  <a:srgbClr val="003366"/>
                </a:solidFill>
                <a:latin typeface="Arial Black"/>
                <a:cs typeface="Arial Black"/>
              </a:rPr>
              <a:t>Heuristic</a:t>
            </a:r>
            <a:r>
              <a:rPr dirty="0" sz="1800" spc="-185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1800" spc="-10">
                <a:solidFill>
                  <a:srgbClr val="003366"/>
                </a:solidFill>
                <a:latin typeface="Arial Black"/>
                <a:cs typeface="Arial Black"/>
              </a:rPr>
              <a:t>Search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dirty="0" sz="1250" spc="-10">
                <a:solidFill>
                  <a:srgbClr val="334155"/>
                </a:solidFill>
                <a:latin typeface="Tahoma"/>
                <a:cs typeface="Tahoma"/>
              </a:rPr>
              <a:t>Instead</a:t>
            </a:r>
            <a:r>
              <a:rPr dirty="0" sz="1250" spc="-11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34155"/>
                </a:solidFill>
                <a:latin typeface="Tahoma"/>
                <a:cs typeface="Tahoma"/>
              </a:rPr>
              <a:t>of</a:t>
            </a:r>
            <a:r>
              <a:rPr dirty="0" sz="12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34155"/>
                </a:solidFill>
                <a:latin typeface="Tahoma"/>
                <a:cs typeface="Tahoma"/>
              </a:rPr>
              <a:t>one</a:t>
            </a:r>
            <a:r>
              <a:rPr dirty="0" sz="12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50" spc="-20">
                <a:solidFill>
                  <a:srgbClr val="334155"/>
                </a:solidFill>
                <a:latin typeface="Tahoma"/>
                <a:cs typeface="Tahoma"/>
              </a:rPr>
              <a:t>path,</a:t>
            </a:r>
            <a:r>
              <a:rPr dirty="0" sz="12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34155"/>
                </a:solidFill>
                <a:latin typeface="Tahoma"/>
                <a:cs typeface="Tahoma"/>
              </a:rPr>
              <a:t>LBS</a:t>
            </a:r>
            <a:r>
              <a:rPr dirty="0" sz="12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334155"/>
                </a:solidFill>
                <a:latin typeface="Tahoma"/>
                <a:cs typeface="Tahoma"/>
              </a:rPr>
              <a:t>keeps</a:t>
            </a:r>
            <a:r>
              <a:rPr dirty="0" sz="12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34155"/>
                </a:solidFill>
                <a:latin typeface="Tahoma"/>
                <a:cs typeface="Tahoma"/>
              </a:rPr>
              <a:t>track</a:t>
            </a:r>
            <a:r>
              <a:rPr dirty="0" sz="12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334155"/>
                </a:solidFill>
                <a:latin typeface="Tahoma"/>
                <a:cs typeface="Tahoma"/>
              </a:rPr>
              <a:t>of</a:t>
            </a:r>
            <a:r>
              <a:rPr dirty="0" sz="1250" spc="-11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250" spc="-60" b="1">
                <a:solidFill>
                  <a:srgbClr val="003366"/>
                </a:solidFill>
                <a:latin typeface="Tahoma"/>
                <a:cs typeface="Tahoma"/>
              </a:rPr>
              <a:t>k</a:t>
            </a:r>
            <a:r>
              <a:rPr dirty="0" sz="1250" spc="-80" b="1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dirty="0" sz="1250" spc="-75" b="1">
                <a:solidFill>
                  <a:srgbClr val="003366"/>
                </a:solidFill>
                <a:latin typeface="Tahoma"/>
                <a:cs typeface="Tahoma"/>
              </a:rPr>
              <a:t>states</a:t>
            </a:r>
            <a:r>
              <a:rPr dirty="0" sz="1250" spc="-80" b="1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334155"/>
                </a:solidFill>
                <a:latin typeface="Tahoma"/>
                <a:cs typeface="Tahoma"/>
              </a:rPr>
              <a:t>simultaneously.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20778" y="2909935"/>
            <a:ext cx="174625" cy="2406650"/>
            <a:chOff x="920778" y="2909935"/>
            <a:chExt cx="174625" cy="24066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0303" y="2909935"/>
              <a:ext cx="155575" cy="1238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778" y="4018010"/>
              <a:ext cx="174625" cy="1746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0303" y="5161010"/>
              <a:ext cx="155575" cy="15557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92203" y="3381814"/>
            <a:ext cx="2350770" cy="3594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10">
                <a:solidFill>
                  <a:srgbClr val="003366"/>
                </a:solidFill>
                <a:latin typeface="Arial Black"/>
                <a:cs typeface="Arial Black"/>
              </a:rPr>
              <a:t>Beam</a:t>
            </a:r>
            <a:r>
              <a:rPr dirty="0" sz="1150" spc="-10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1150">
                <a:solidFill>
                  <a:srgbClr val="003366"/>
                </a:solidFill>
                <a:latin typeface="Arial Black"/>
                <a:cs typeface="Arial Black"/>
              </a:rPr>
              <a:t>Width</a:t>
            </a:r>
            <a:r>
              <a:rPr dirty="0" sz="1150" spc="-95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1150" spc="35">
                <a:solidFill>
                  <a:srgbClr val="003366"/>
                </a:solidFill>
                <a:latin typeface="Arial Black"/>
                <a:cs typeface="Arial Black"/>
              </a:rPr>
              <a:t>(k)</a:t>
            </a:r>
            <a:endParaRPr sz="11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000" spc="-10">
                <a:solidFill>
                  <a:srgbClr val="64738B"/>
                </a:solidFill>
                <a:latin typeface="Tahoma"/>
                <a:cs typeface="Tahoma"/>
              </a:rPr>
              <a:t>The</a:t>
            </a:r>
            <a:r>
              <a:rPr dirty="0" sz="1000" spc="-114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number</a:t>
            </a:r>
            <a:r>
              <a:rPr dirty="0" sz="1000" spc="-114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of</a:t>
            </a:r>
            <a:r>
              <a:rPr dirty="0" sz="1000" spc="-114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best</a:t>
            </a:r>
            <a:r>
              <a:rPr dirty="0" sz="1000" spc="-11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states</a:t>
            </a:r>
            <a:r>
              <a:rPr dirty="0" sz="1000" spc="-114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kept</a:t>
            </a:r>
            <a:r>
              <a:rPr dirty="0" sz="1000" spc="-114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in</a:t>
            </a:r>
            <a:r>
              <a:rPr dirty="0" sz="1000" spc="-11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64738B"/>
                </a:solidFill>
                <a:latin typeface="Tahoma"/>
                <a:cs typeface="Tahoma"/>
              </a:rPr>
              <a:t>memory.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2203" y="4515289"/>
            <a:ext cx="4337685" cy="3594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10">
                <a:solidFill>
                  <a:srgbClr val="003366"/>
                </a:solidFill>
                <a:latin typeface="Arial Black"/>
                <a:cs typeface="Arial Black"/>
              </a:rPr>
              <a:t>Collaboration</a:t>
            </a:r>
            <a:endParaRPr sz="11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000" spc="-10">
                <a:solidFill>
                  <a:srgbClr val="64738B"/>
                </a:solidFill>
                <a:latin typeface="Tahoma"/>
                <a:cs typeface="Tahoma"/>
              </a:rPr>
              <a:t>The</a:t>
            </a:r>
            <a:r>
              <a:rPr dirty="0" sz="1000" spc="-10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k</a:t>
            </a:r>
            <a:r>
              <a:rPr dirty="0" sz="1000" spc="-1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states</a:t>
            </a:r>
            <a:r>
              <a:rPr dirty="0" sz="1000" spc="-10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"talk"</a:t>
            </a:r>
            <a:r>
              <a:rPr dirty="0" sz="1000" spc="-1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64738B"/>
                </a:solidFill>
                <a:latin typeface="Tahoma"/>
                <a:cs typeface="Tahoma"/>
              </a:rPr>
              <a:t>by</a:t>
            </a:r>
            <a:r>
              <a:rPr dirty="0" sz="1000" spc="-10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picking</a:t>
            </a:r>
            <a:r>
              <a:rPr dirty="0" sz="1000" spc="-1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the</a:t>
            </a:r>
            <a:r>
              <a:rPr dirty="0" sz="1000" spc="-10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absolute</a:t>
            </a:r>
            <a:r>
              <a:rPr dirty="0" sz="1000" spc="-1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best</a:t>
            </a:r>
            <a:r>
              <a:rPr dirty="0" sz="1000" spc="-10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64738B"/>
                </a:solidFill>
                <a:latin typeface="Tahoma"/>
                <a:cs typeface="Tahoma"/>
              </a:rPr>
              <a:t>successors</a:t>
            </a:r>
            <a:r>
              <a:rPr dirty="0" sz="1000" spc="-1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from</a:t>
            </a:r>
            <a:r>
              <a:rPr dirty="0" sz="1000" spc="-10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the</a:t>
            </a:r>
            <a:r>
              <a:rPr dirty="0" sz="1000" spc="-1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entire</a:t>
            </a:r>
            <a:r>
              <a:rPr dirty="0" sz="1000" spc="-1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64738B"/>
                </a:solidFill>
                <a:latin typeface="Tahoma"/>
                <a:cs typeface="Tahoma"/>
              </a:rPr>
              <a:t>pool.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2203" y="5372539"/>
            <a:ext cx="2313940" cy="3594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>
                <a:solidFill>
                  <a:srgbClr val="003366"/>
                </a:solidFill>
                <a:latin typeface="Arial Black"/>
                <a:cs typeface="Arial Black"/>
              </a:rPr>
              <a:t>Memory</a:t>
            </a:r>
            <a:r>
              <a:rPr dirty="0" sz="1150" spc="-90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Black"/>
                <a:cs typeface="Arial Black"/>
              </a:rPr>
              <a:t>Efficient</a:t>
            </a:r>
            <a:endParaRPr sz="11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Avoids</a:t>
            </a:r>
            <a:r>
              <a:rPr dirty="0" sz="1000" spc="-8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64738B"/>
                </a:solidFill>
                <a:latin typeface="Tahoma"/>
                <a:cs typeface="Tahoma"/>
              </a:rPr>
              <a:t>saving</a:t>
            </a:r>
            <a:r>
              <a:rPr dirty="0" sz="1000" spc="-8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the</a:t>
            </a:r>
            <a:r>
              <a:rPr dirty="0" sz="1000" spc="-8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full</a:t>
            </a:r>
            <a:r>
              <a:rPr dirty="0" sz="1000" spc="-8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64738B"/>
                </a:solidFill>
                <a:latin typeface="Tahoma"/>
                <a:cs typeface="Tahoma"/>
              </a:rPr>
              <a:t>search</a:t>
            </a:r>
            <a:r>
              <a:rPr dirty="0" sz="1000" spc="-8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tree</a:t>
            </a:r>
            <a:r>
              <a:rPr dirty="0" sz="1000" spc="-8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738B"/>
                </a:solidFill>
                <a:latin typeface="Tahoma"/>
                <a:cs typeface="Tahoma"/>
              </a:rPr>
              <a:t>like</a:t>
            </a:r>
            <a:r>
              <a:rPr dirty="0" sz="1000" spc="-8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64738B"/>
                </a:solidFill>
                <a:latin typeface="Tahoma"/>
                <a:cs typeface="Tahoma"/>
              </a:rPr>
              <a:t>BFS.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983012" y="1852712"/>
            <a:ext cx="5724525" cy="4010025"/>
            <a:chOff x="5983012" y="1852712"/>
            <a:chExt cx="5724525" cy="401002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87775" y="1857474"/>
              <a:ext cx="5714999" cy="40004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987774" y="1857474"/>
              <a:ext cx="5715000" cy="4000500"/>
            </a:xfrm>
            <a:custGeom>
              <a:avLst/>
              <a:gdLst/>
              <a:ahLst/>
              <a:cxnLst/>
              <a:rect l="l" t="t" r="r" b="b"/>
              <a:pathLst>
                <a:path w="5715000" h="4000500">
                  <a:moveTo>
                    <a:pt x="0" y="190463"/>
                  </a:moveTo>
                  <a:lnTo>
                    <a:pt x="5030" y="146792"/>
                  </a:lnTo>
                  <a:lnTo>
                    <a:pt x="19358" y="106702"/>
                  </a:lnTo>
                  <a:lnTo>
                    <a:pt x="41842" y="71338"/>
                  </a:lnTo>
                  <a:lnTo>
                    <a:pt x="71338" y="41842"/>
                  </a:lnTo>
                  <a:lnTo>
                    <a:pt x="106702" y="19358"/>
                  </a:lnTo>
                  <a:lnTo>
                    <a:pt x="146792" y="5030"/>
                  </a:lnTo>
                  <a:lnTo>
                    <a:pt x="190463" y="0"/>
                  </a:lnTo>
                  <a:lnTo>
                    <a:pt x="5524535" y="0"/>
                  </a:lnTo>
                  <a:lnTo>
                    <a:pt x="5597423" y="14498"/>
                  </a:lnTo>
                  <a:lnTo>
                    <a:pt x="5659213" y="55785"/>
                  </a:lnTo>
                  <a:lnTo>
                    <a:pt x="5700501" y="117576"/>
                  </a:lnTo>
                  <a:lnTo>
                    <a:pt x="5714999" y="190463"/>
                  </a:lnTo>
                  <a:lnTo>
                    <a:pt x="5714999" y="3810036"/>
                  </a:lnTo>
                  <a:lnTo>
                    <a:pt x="5709969" y="3853707"/>
                  </a:lnTo>
                  <a:lnTo>
                    <a:pt x="5695641" y="3893797"/>
                  </a:lnTo>
                  <a:lnTo>
                    <a:pt x="5673157" y="3929161"/>
                  </a:lnTo>
                  <a:lnTo>
                    <a:pt x="5643661" y="3958657"/>
                  </a:lnTo>
                  <a:lnTo>
                    <a:pt x="5608297" y="3981141"/>
                  </a:lnTo>
                  <a:lnTo>
                    <a:pt x="5568207" y="3995469"/>
                  </a:lnTo>
                  <a:lnTo>
                    <a:pt x="5524535" y="4000499"/>
                  </a:lnTo>
                  <a:lnTo>
                    <a:pt x="190463" y="4000499"/>
                  </a:lnTo>
                  <a:lnTo>
                    <a:pt x="146792" y="3995469"/>
                  </a:lnTo>
                  <a:lnTo>
                    <a:pt x="106702" y="3981141"/>
                  </a:lnTo>
                  <a:lnTo>
                    <a:pt x="71338" y="3958657"/>
                  </a:lnTo>
                  <a:lnTo>
                    <a:pt x="41842" y="3929161"/>
                  </a:lnTo>
                  <a:lnTo>
                    <a:pt x="19358" y="3893797"/>
                  </a:lnTo>
                  <a:lnTo>
                    <a:pt x="5030" y="3853707"/>
                  </a:lnTo>
                  <a:lnTo>
                    <a:pt x="0" y="3810036"/>
                  </a:lnTo>
                  <a:lnTo>
                    <a:pt x="0" y="190463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8800" y="1414334"/>
            <a:ext cx="5152390" cy="50545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Case:</a:t>
            </a:r>
            <a:r>
              <a:rPr dirty="0" spc="-365"/>
              <a:t> </a:t>
            </a:r>
            <a:r>
              <a:rPr dirty="0"/>
              <a:t>8-Queens</a:t>
            </a:r>
            <a:r>
              <a:rPr dirty="0" spc="-360"/>
              <a:t> </a:t>
            </a:r>
            <a:r>
              <a:rPr dirty="0" spc="-40"/>
              <a:t>Problem</a:t>
            </a:r>
          </a:p>
        </p:txBody>
      </p:sp>
      <p:sp>
        <p:nvSpPr>
          <p:cNvPr id="3" name="object 3"/>
          <p:cNvSpPr/>
          <p:nvPr/>
        </p:nvSpPr>
        <p:spPr>
          <a:xfrm>
            <a:off x="571500" y="2738436"/>
            <a:ext cx="4953000" cy="28575"/>
          </a:xfrm>
          <a:custGeom>
            <a:avLst/>
            <a:gdLst/>
            <a:ahLst/>
            <a:cxnLst/>
            <a:rect l="l" t="t" r="r" b="b"/>
            <a:pathLst>
              <a:path w="4953000" h="28575">
                <a:moveTo>
                  <a:pt x="4952999" y="28574"/>
                </a:moveTo>
                <a:lnTo>
                  <a:pt x="0" y="28574"/>
                </a:lnTo>
                <a:lnTo>
                  <a:pt x="0" y="0"/>
                </a:lnTo>
                <a:lnTo>
                  <a:pt x="4952999" y="0"/>
                </a:lnTo>
                <a:lnTo>
                  <a:pt x="4952999" y="28574"/>
                </a:lnTo>
                <a:close/>
              </a:path>
            </a:pathLst>
          </a:custGeom>
          <a:solidFill>
            <a:srgbClr val="D4AE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58800" y="2747179"/>
            <a:ext cx="4779645" cy="24625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30">
                <a:solidFill>
                  <a:srgbClr val="003366"/>
                </a:solidFill>
                <a:latin typeface="Arial Black"/>
                <a:cs typeface="Arial Black"/>
              </a:rPr>
              <a:t>Algorithm</a:t>
            </a:r>
            <a:r>
              <a:rPr dirty="0" sz="1400" spc="-125">
                <a:solidFill>
                  <a:srgbClr val="003366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003366"/>
                </a:solidFill>
                <a:latin typeface="Arial Black"/>
                <a:cs typeface="Arial Black"/>
              </a:rPr>
              <a:t>Execution</a:t>
            </a:r>
            <a:endParaRPr sz="1400">
              <a:latin typeface="Arial Black"/>
              <a:cs typeface="Arial Black"/>
            </a:endParaRPr>
          </a:p>
          <a:p>
            <a:pPr marL="12700" marR="40640">
              <a:lnSpc>
                <a:spcPct val="160000"/>
              </a:lnSpc>
              <a:spcBef>
                <a:spcPts val="869"/>
              </a:spcBef>
            </a:pPr>
            <a:r>
              <a:rPr dirty="0" sz="1350" spc="95">
                <a:solidFill>
                  <a:srgbClr val="334155"/>
                </a:solidFill>
                <a:latin typeface="Tahoma"/>
                <a:cs typeface="Tahoma"/>
              </a:rPr>
              <a:t>A</a:t>
            </a:r>
            <a:r>
              <a:rPr dirty="0" sz="1350" spc="-15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classic</a:t>
            </a:r>
            <a:r>
              <a:rPr dirty="0" sz="1350" spc="-15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chess</a:t>
            </a:r>
            <a:r>
              <a:rPr dirty="0" sz="1350" spc="-14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puzzle</a:t>
            </a:r>
            <a:r>
              <a:rPr dirty="0" sz="1350" spc="-15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where</a:t>
            </a:r>
            <a:r>
              <a:rPr dirty="0" sz="1350" spc="-14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8</a:t>
            </a:r>
            <a:r>
              <a:rPr dirty="0" sz="1350" spc="-15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queens</a:t>
            </a:r>
            <a:r>
              <a:rPr dirty="0" sz="1350" spc="-14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must</a:t>
            </a:r>
            <a:r>
              <a:rPr dirty="0" sz="1350" spc="-15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be</a:t>
            </a:r>
            <a:r>
              <a:rPr dirty="0" sz="1350" spc="-14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placed</a:t>
            </a:r>
            <a:r>
              <a:rPr dirty="0" sz="1350" spc="-15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on</a:t>
            </a:r>
            <a:r>
              <a:rPr dirty="0" sz="1350" spc="-14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34155"/>
                </a:solidFill>
                <a:latin typeface="Tahoma"/>
                <a:cs typeface="Tahoma"/>
              </a:rPr>
              <a:t>an</a:t>
            </a:r>
            <a:r>
              <a:rPr dirty="0" sz="1350" spc="-15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34155"/>
                </a:solidFill>
                <a:latin typeface="Tahoma"/>
                <a:cs typeface="Tahoma"/>
              </a:rPr>
              <a:t>8x8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board</a:t>
            </a:r>
            <a:r>
              <a:rPr dirty="0" sz="1350" spc="-10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with</a:t>
            </a:r>
            <a:r>
              <a:rPr dirty="0" sz="1350" spc="-10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zero</a:t>
            </a:r>
            <a:r>
              <a:rPr dirty="0" sz="1350" spc="-10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attacking</a:t>
            </a:r>
            <a:r>
              <a:rPr dirty="0" sz="1350" spc="-9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conflicts.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350">
              <a:latin typeface="Tahoma"/>
              <a:cs typeface="Tahoma"/>
            </a:endParaRPr>
          </a:p>
          <a:p>
            <a:pPr marL="12700" marR="66040">
              <a:lnSpc>
                <a:spcPct val="160000"/>
              </a:lnSpc>
            </a:pP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LBS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generates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224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neighbors</a:t>
            </a:r>
            <a:r>
              <a:rPr dirty="0" sz="1350" spc="-10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from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4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initial</a:t>
            </a:r>
            <a:r>
              <a:rPr dirty="0" sz="1350" spc="-10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34155"/>
                </a:solidFill>
                <a:latin typeface="Tahoma"/>
                <a:cs typeface="Tahoma"/>
              </a:rPr>
              <a:t>beams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90">
                <a:solidFill>
                  <a:srgbClr val="334155"/>
                </a:solidFill>
                <a:latin typeface="Tahoma"/>
                <a:cs typeface="Tahoma"/>
              </a:rPr>
              <a:t>(k=4),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selects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the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top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4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34155"/>
                </a:solidFill>
                <a:latin typeface="Tahoma"/>
                <a:cs typeface="Tahoma"/>
              </a:rPr>
              <a:t>based</a:t>
            </a:r>
            <a:r>
              <a:rPr dirty="0" sz="1350" spc="-10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on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conflict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34155"/>
                </a:solidFill>
                <a:latin typeface="Tahoma"/>
                <a:cs typeface="Tahoma"/>
              </a:rPr>
              <a:t>scores,</a:t>
            </a:r>
            <a:r>
              <a:rPr dirty="0" sz="1350" spc="-10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34155"/>
                </a:solidFill>
                <a:latin typeface="Tahoma"/>
                <a:cs typeface="Tahoma"/>
              </a:rPr>
              <a:t>and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iterates</a:t>
            </a:r>
            <a:r>
              <a:rPr dirty="0" sz="1350" spc="-10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until</a:t>
            </a:r>
            <a:r>
              <a:rPr dirty="0" sz="1350" spc="-10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0" b="1">
                <a:solidFill>
                  <a:srgbClr val="334155"/>
                </a:solidFill>
                <a:latin typeface="Tahoma"/>
                <a:cs typeface="Tahoma"/>
              </a:rPr>
              <a:t>h=0</a:t>
            </a:r>
            <a:r>
              <a:rPr dirty="0" sz="1350" spc="-20">
                <a:solidFill>
                  <a:srgbClr val="334155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95" b="1">
                <a:solidFill>
                  <a:srgbClr val="003366"/>
                </a:solidFill>
                <a:latin typeface="Tahoma"/>
                <a:cs typeface="Tahoma"/>
              </a:rPr>
              <a:t>Result:</a:t>
            </a:r>
            <a:r>
              <a:rPr dirty="0" sz="1350" spc="-90" b="1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dirty="0" sz="1350" spc="-95" b="1">
                <a:solidFill>
                  <a:srgbClr val="003366"/>
                </a:solidFill>
                <a:latin typeface="Tahoma"/>
                <a:cs typeface="Tahoma"/>
              </a:rPr>
              <a:t>Rapid</a:t>
            </a:r>
            <a:r>
              <a:rPr dirty="0" sz="1350" spc="-85" b="1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dirty="0" sz="1350" spc="-95" b="1">
                <a:solidFill>
                  <a:srgbClr val="003366"/>
                </a:solidFill>
                <a:latin typeface="Tahoma"/>
                <a:cs typeface="Tahoma"/>
              </a:rPr>
              <a:t>convergence</a:t>
            </a:r>
            <a:r>
              <a:rPr dirty="0" sz="1350" spc="-90" b="1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dirty="0" sz="1350" spc="-100" b="1">
                <a:solidFill>
                  <a:srgbClr val="003366"/>
                </a:solidFill>
                <a:latin typeface="Tahoma"/>
                <a:cs typeface="Tahoma"/>
              </a:rPr>
              <a:t>compared</a:t>
            </a:r>
            <a:r>
              <a:rPr dirty="0" sz="1350" spc="-85" b="1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dirty="0" sz="1350" spc="-65" b="1">
                <a:solidFill>
                  <a:srgbClr val="003366"/>
                </a:solidFill>
                <a:latin typeface="Tahoma"/>
                <a:cs typeface="Tahoma"/>
              </a:rPr>
              <a:t>to</a:t>
            </a:r>
            <a:r>
              <a:rPr dirty="0" sz="1350" spc="-90" b="1">
                <a:solidFill>
                  <a:srgbClr val="003366"/>
                </a:solidFill>
                <a:latin typeface="Tahoma"/>
                <a:cs typeface="Tahoma"/>
              </a:rPr>
              <a:t> standard</a:t>
            </a:r>
            <a:r>
              <a:rPr dirty="0" sz="1350" spc="-85" b="1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dirty="0" sz="1350" spc="-75" b="1">
                <a:solidFill>
                  <a:srgbClr val="003366"/>
                </a:solidFill>
                <a:latin typeface="Tahoma"/>
                <a:cs typeface="Tahoma"/>
              </a:rPr>
              <a:t>hill-</a:t>
            </a:r>
            <a:r>
              <a:rPr dirty="0" sz="1350" spc="-70" b="1">
                <a:solidFill>
                  <a:srgbClr val="003366"/>
                </a:solidFill>
                <a:latin typeface="Tahoma"/>
                <a:cs typeface="Tahoma"/>
              </a:rPr>
              <a:t>climbing.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0"/>
            <a:ext cx="6095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65119" y="1261893"/>
            <a:ext cx="446214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210">
                <a:solidFill>
                  <a:srgbClr val="D4AE37"/>
                </a:solidFill>
              </a:rPr>
              <a:t>Thank</a:t>
            </a:r>
            <a:r>
              <a:rPr dirty="0" sz="6000" spc="-700">
                <a:solidFill>
                  <a:srgbClr val="D4AE37"/>
                </a:solidFill>
              </a:rPr>
              <a:t> </a:t>
            </a:r>
            <a:r>
              <a:rPr dirty="0" sz="6000" spc="-75">
                <a:solidFill>
                  <a:srgbClr val="D4AE37"/>
                </a:solidFill>
              </a:rPr>
              <a:t>You!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1056966" y="2512335"/>
            <a:ext cx="10078720" cy="2806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solidFill>
                  <a:srgbClr val="003366"/>
                </a:solidFill>
                <a:latin typeface="Lucida Sans Unicode"/>
                <a:cs typeface="Lucida Sans Unicode"/>
              </a:rPr>
              <a:t>Questions?</a:t>
            </a:r>
            <a:endParaRPr sz="3600">
              <a:latin typeface="Lucida Sans Unicode"/>
              <a:cs typeface="Lucida Sans Unicode"/>
            </a:endParaRPr>
          </a:p>
          <a:p>
            <a:pPr algn="ctr" marL="12065" marR="5080">
              <a:lnSpc>
                <a:spcPct val="160000"/>
              </a:lnSpc>
              <a:spcBef>
                <a:spcPts val="2220"/>
              </a:spcBef>
            </a:pP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Building</a:t>
            </a:r>
            <a:r>
              <a:rPr dirty="0" sz="16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this</a:t>
            </a:r>
            <a:r>
              <a:rPr dirty="0" sz="16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AI</a:t>
            </a:r>
            <a:r>
              <a:rPr dirty="0" sz="16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334155"/>
                </a:solidFill>
                <a:latin typeface="Tahoma"/>
                <a:cs typeface="Tahoma"/>
              </a:rPr>
              <a:t>agent</a:t>
            </a:r>
            <a:r>
              <a:rPr dirty="0" sz="16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demonstrated</a:t>
            </a:r>
            <a:r>
              <a:rPr dirty="0" sz="16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that</a:t>
            </a:r>
            <a:r>
              <a:rPr dirty="0" sz="16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selecting</a:t>
            </a:r>
            <a:r>
              <a:rPr dirty="0" sz="16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the</a:t>
            </a:r>
            <a:r>
              <a:rPr dirty="0" sz="16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right</a:t>
            </a:r>
            <a:r>
              <a:rPr dirty="0" sz="16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heuristic</a:t>
            </a:r>
            <a:r>
              <a:rPr dirty="0" sz="16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is</a:t>
            </a:r>
            <a:r>
              <a:rPr dirty="0" sz="16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essential</a:t>
            </a:r>
            <a:r>
              <a:rPr dirty="0" sz="16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for</a:t>
            </a:r>
            <a:r>
              <a:rPr dirty="0" sz="16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334155"/>
                </a:solidFill>
                <a:latin typeface="Tahoma"/>
                <a:cs typeface="Tahoma"/>
              </a:rPr>
              <a:t>navigating</a:t>
            </a:r>
            <a:r>
              <a:rPr dirty="0" sz="16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strict</a:t>
            </a:r>
            <a:r>
              <a:rPr dirty="0" sz="1650" spc="-12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334155"/>
                </a:solidFill>
                <a:latin typeface="Tahoma"/>
                <a:cs typeface="Tahoma"/>
              </a:rPr>
              <a:t>constraint state-spaces</a:t>
            </a:r>
            <a:r>
              <a:rPr dirty="0" sz="1650" spc="-15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334155"/>
                </a:solidFill>
                <a:latin typeface="Tahoma"/>
                <a:cs typeface="Tahoma"/>
              </a:rPr>
              <a:t>like</a:t>
            </a:r>
            <a:r>
              <a:rPr dirty="0" sz="1650" spc="-14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334155"/>
                </a:solidFill>
                <a:latin typeface="Tahoma"/>
                <a:cs typeface="Tahoma"/>
              </a:rPr>
              <a:t>Sudoku.</a:t>
            </a:r>
            <a:endParaRPr sz="16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Tahoma"/>
              <a:cs typeface="Tahoma"/>
            </a:endParaRPr>
          </a:p>
          <a:p>
            <a:pPr algn="ctr" marL="3420745" marR="3413760">
              <a:lnSpc>
                <a:spcPct val="216699"/>
              </a:lnSpc>
            </a:pP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Artificial</a:t>
            </a:r>
            <a:r>
              <a:rPr dirty="0" sz="1350" spc="-8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Tahoma"/>
                <a:cs typeface="Tahoma"/>
              </a:rPr>
              <a:t>Intelligence</a:t>
            </a:r>
            <a:r>
              <a:rPr dirty="0" sz="1350" spc="-8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114">
                <a:solidFill>
                  <a:srgbClr val="334155"/>
                </a:solidFill>
                <a:latin typeface="Tahoma"/>
                <a:cs typeface="Tahoma"/>
              </a:rPr>
              <a:t>|</a:t>
            </a:r>
            <a:r>
              <a:rPr dirty="0" sz="1350" spc="-8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Engineering</a:t>
            </a:r>
            <a:r>
              <a:rPr dirty="0" sz="1350" spc="-8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34155"/>
                </a:solidFill>
                <a:latin typeface="Tahoma"/>
                <a:cs typeface="Tahoma"/>
              </a:rPr>
              <a:t>CCE414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5</a:t>
            </a:r>
            <a:r>
              <a:rPr dirty="0" sz="1350" spc="-13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34155"/>
                </a:solidFill>
                <a:latin typeface="Tahoma"/>
                <a:cs typeface="Tahoma"/>
              </a:rPr>
              <a:t>/</a:t>
            </a:r>
            <a:r>
              <a:rPr dirty="0" sz="13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34155"/>
                </a:solidFill>
                <a:latin typeface="Tahoma"/>
                <a:cs typeface="Tahoma"/>
              </a:rPr>
              <a:t>10</a:t>
            </a:r>
            <a:r>
              <a:rPr dirty="0" sz="1350" spc="-13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34155"/>
                </a:solidFill>
                <a:latin typeface="Tahoma"/>
                <a:cs typeface="Tahoma"/>
              </a:rPr>
              <a:t>/</a:t>
            </a:r>
            <a:r>
              <a:rPr dirty="0" sz="1350" spc="-125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34155"/>
                </a:solidFill>
                <a:latin typeface="Tahoma"/>
                <a:cs typeface="Tahoma"/>
              </a:rPr>
              <a:t>2026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Sudoku Solver Agent Poster Presentation</dc:title>
  <dcterms:created xsi:type="dcterms:W3CDTF">2026-05-09T19:14:40Z</dcterms:created>
  <dcterms:modified xsi:type="dcterms:W3CDTF">2026-05-09T19:14:40Z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2026-05-09T00:00:00Z</vt:filetime>
  </property>
  <property fmtid="{D5CDD505-2E9C-101B-9397-08002B2CF9AE}" pid="4" name="Creator">
    <vt:lpwstr>Google</vt:lpwstr>
  </property>
  <property fmtid="{D5CDD505-2E9C-101B-9397-08002B2CF9AE}" pid="5" name="LastSaved">
    <vt:filetime>2026-05-09T00:00:00Z</vt:filetime>
  </property>
</Properties>
</file>